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8" d="100"/>
          <a:sy n="108" d="100"/>
        </p:scale>
        <p:origin x="12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 err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 err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">
            <a:extLst>
              <a:ext uri="{FF2B5EF4-FFF2-40B4-BE49-F238E27FC236}">
                <a16:creationId xmlns:a16="http://schemas.microsoft.com/office/drawing/2014/main" id="{CCFB48A8-A8A9-4320-A186-A92F0CBF495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904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정보과학 프로젝트 계획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3DA4BA60-71B9-4463-A748-1A361B29288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477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7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hwpx 문서</a:t>
            </a:r>
          </a:p>
          <a:p>
            <a:pPr algn="l">
              <a:defRPr sz="57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서식 변환 서비스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05267682-700C-4FE0-8AEA-9331C5DB2EE9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원하는 서식을 선택하면 새 HWPX 파일을 만듭니다.</a:t>
            </a:r>
          </a:p>
        </p:txBody>
      </p:sp>
      <p:sp>
        <p:nvSpPr>
          <p:cNvPr id="4" name="shape-4">
            <a:extLst>
              <a:ext uri="{FF2B5EF4-FFF2-40B4-BE49-F238E27FC236}">
                <a16:creationId xmlns:a16="http://schemas.microsoft.com/office/drawing/2014/main" id="{067EA365-30C3-4769-99C7-CB4104ACA64D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06D2312A-92B3-4F72-B97A-4551CC0B14E2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2215 정현진</a:t>
            </a:r>
          </a:p>
        </p:txBody>
      </p:sp>
    </p:spTree>
    <p:extLst>
      <p:ext uri="{BB962C8B-B14F-4D97-AF65-F5344CB8AC3E}">
        <p14:creationId xmlns:p14="http://schemas.microsoft.com/office/powerpoint/2010/main" val="99397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7">
            <a:extLst>
              <a:ext uri="{FF2B5EF4-FFF2-40B4-BE49-F238E27FC236}">
                <a16:creationId xmlns:a16="http://schemas.microsoft.com/office/drawing/2014/main" id="{B040F469-9837-43C7-BB25-7FBE56CACCF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01  문제와 사용자</a:t>
            </a:r>
          </a:p>
        </p:txBody>
      </p:sp>
      <p:sp>
        <p:nvSpPr>
          <p:cNvPr id="2" name="text-8">
            <a:extLst>
              <a:ext uri="{FF2B5EF4-FFF2-40B4-BE49-F238E27FC236}">
                <a16:creationId xmlns:a16="http://schemas.microsoft.com/office/drawing/2014/main" id="{5E87FD93-D25C-4BF8-9455-6F275B973B8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서식 수정에는 시간과 확인이 필요합니다</a:t>
            </a:r>
          </a:p>
        </p:txBody>
      </p:sp>
      <p:sp>
        <p:nvSpPr>
          <p:cNvPr id="3" name="text-9">
            <a:extLst>
              <a:ext uri="{FF2B5EF4-FFF2-40B4-BE49-F238E27FC236}">
                <a16:creationId xmlns:a16="http://schemas.microsoft.com/office/drawing/2014/main" id="{6D2756B6-98A9-4380-804C-25A2181AA656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-10">
            <a:extLst>
              <a:ext uri="{FF2B5EF4-FFF2-40B4-BE49-F238E27FC236}">
                <a16:creationId xmlns:a16="http://schemas.microsoft.com/office/drawing/2014/main" id="{F6656B3B-683C-47D5-921A-F9DD54221151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주요 사용자</a:t>
            </a:r>
          </a:p>
        </p:txBody>
      </p:sp>
      <p:sp>
        <p:nvSpPr>
          <p:cNvPr id="5" name="text-11">
            <a:extLst>
              <a:ext uri="{FF2B5EF4-FFF2-40B4-BE49-F238E27FC236}">
                <a16:creationId xmlns:a16="http://schemas.microsoft.com/office/drawing/2014/main" id="{8806FDCC-5EFE-4EA9-B14D-9A28A10BF3B7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1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학생과 선생님</a:t>
            </a:r>
          </a:p>
        </p:txBody>
      </p:sp>
      <p:sp>
        <p:nvSpPr>
          <p:cNvPr id="6" name="text-12">
            <a:extLst>
              <a:ext uri="{FF2B5EF4-FFF2-40B4-BE49-F238E27FC236}">
                <a16:creationId xmlns:a16="http://schemas.microsoft.com/office/drawing/2014/main" id="{452AC04F-A5F3-471E-A5B9-6E4D4E3F3216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485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보고서, 과제, 연구자료, 안내문 등</a:t>
            </a:r>
          </a:p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HWPX 문서를 자주 작성하는 사람</a:t>
            </a:r>
          </a:p>
        </p:txBody>
      </p:sp>
      <p:sp>
        <p:nvSpPr>
          <p:cNvPr id="7" name="shape-13">
            <a:extLst>
              <a:ext uri="{FF2B5EF4-FFF2-40B4-BE49-F238E27FC236}">
                <a16:creationId xmlns:a16="http://schemas.microsoft.com/office/drawing/2014/main" id="{791A2448-7EFA-4A5B-B432-96E19CDCF06B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391150" cy="13335"/>
          </a:xfrm>
          <a:prstGeom prst="rect">
            <a:avLst/>
          </a:prstGeom>
          <a:solidFill>
            <a:srgbClr val="2463EB"/>
          </a:solidFill>
          <a:ln w="0">
            <a:noFill/>
            <a:prstDash val="solid"/>
          </a:ln>
        </p:spPr>
      </p:sp>
      <p:sp>
        <p:nvSpPr>
          <p:cNvPr id="8" name="text-14">
            <a:extLst>
              <a:ext uri="{FF2B5EF4-FFF2-40B4-BE49-F238E27FC236}">
                <a16:creationId xmlns:a16="http://schemas.microsoft.com/office/drawing/2014/main" id="{0130222C-2D54-4792-A3E6-9E3F8175DE93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53911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9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문서 곳곳의 서식을</a:t>
            </a:r>
          </a:p>
          <a:p>
            <a:pPr algn="l">
              <a:defRPr sz="29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하나씩 찾아 수정합니다.</a:t>
            </a:r>
          </a:p>
        </p:txBody>
      </p:sp>
      <p:sp>
        <p:nvSpPr>
          <p:cNvPr id="9" name="text-15">
            <a:extLst>
              <a:ext uri="{FF2B5EF4-FFF2-40B4-BE49-F238E27FC236}">
                <a16:creationId xmlns:a16="http://schemas.microsoft.com/office/drawing/2014/main" id="{3DE2754F-087A-4B74-8850-0F7D2286E318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9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시간과 노력이 많이 들고</a:t>
            </a:r>
          </a:p>
          <a:p>
            <a:pPr algn="l">
              <a:defRPr sz="21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일부 서식을 빠뜨리기 쉽습니다.</a:t>
            </a:r>
          </a:p>
        </p:txBody>
      </p:sp>
    </p:spTree>
    <p:extLst>
      <p:ext uri="{BB962C8B-B14F-4D97-AF65-F5344CB8AC3E}">
        <p14:creationId xmlns:p14="http://schemas.microsoft.com/office/powerpoint/2010/main" val="13028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16">
            <a:extLst>
              <a:ext uri="{FF2B5EF4-FFF2-40B4-BE49-F238E27FC236}">
                <a16:creationId xmlns:a16="http://schemas.microsoft.com/office/drawing/2014/main" id="{B3C6A587-C3C3-4424-8AE1-433F9672754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02  서비스 흐름</a:t>
            </a:r>
          </a:p>
        </p:txBody>
      </p:sp>
      <p:sp>
        <p:nvSpPr>
          <p:cNvPr id="2" name="text-17">
            <a:extLst>
              <a:ext uri="{FF2B5EF4-FFF2-40B4-BE49-F238E27FC236}">
                <a16:creationId xmlns:a16="http://schemas.microsoft.com/office/drawing/2014/main" id="{80F555DB-DB9C-493A-B3CF-662A26F93D81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세 단계로 서식을 바꿉니다</a:t>
            </a:r>
          </a:p>
        </p:txBody>
      </p:sp>
      <p:sp>
        <p:nvSpPr>
          <p:cNvPr id="3" name="text-18">
            <a:extLst>
              <a:ext uri="{FF2B5EF4-FFF2-40B4-BE49-F238E27FC236}">
                <a16:creationId xmlns:a16="http://schemas.microsoft.com/office/drawing/2014/main" id="{2110F034-674D-40FC-8D35-92DD6F131911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-19">
            <a:extLst>
              <a:ext uri="{FF2B5EF4-FFF2-40B4-BE49-F238E27FC236}">
                <a16:creationId xmlns:a16="http://schemas.microsoft.com/office/drawing/2014/main" id="{AFC4A868-41D4-418F-A3AD-F73643DBD811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-20">
            <a:extLst>
              <a:ext uri="{FF2B5EF4-FFF2-40B4-BE49-F238E27FC236}">
                <a16:creationId xmlns:a16="http://schemas.microsoft.com/office/drawing/2014/main" id="{44C030E5-0E19-466E-A9D4-D10FE2B8E92F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문서 업로드</a:t>
            </a:r>
          </a:p>
        </p:txBody>
      </p:sp>
      <p:sp>
        <p:nvSpPr>
          <p:cNvPr id="6" name="text-21">
            <a:extLst>
              <a:ext uri="{FF2B5EF4-FFF2-40B4-BE49-F238E27FC236}">
                <a16:creationId xmlns:a16="http://schemas.microsoft.com/office/drawing/2014/main" id="{4ACD964B-02BE-4701-83C4-1E13FAA60D2F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바꾸려는 HWPX 파일</a:t>
            </a:r>
          </a:p>
        </p:txBody>
      </p:sp>
      <p:sp>
        <p:nvSpPr>
          <p:cNvPr id="7" name="text-22">
            <a:extLst>
              <a:ext uri="{FF2B5EF4-FFF2-40B4-BE49-F238E27FC236}">
                <a16:creationId xmlns:a16="http://schemas.microsoft.com/office/drawing/2014/main" id="{332739AA-5D9D-4C31-83CB-16CB99727E14}"/>
              </a:ext>
            </a:extLst>
          </p:cNvPr>
          <p:cNvSpPr>
            <a:spLocks noGrp="1"/>
          </p:cNvSpPr>
          <p:nvPr/>
        </p:nvSpPr>
        <p:spPr>
          <a:xfrm>
            <a:off x="4381500" y="22479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text-23">
            <a:extLst>
              <a:ext uri="{FF2B5EF4-FFF2-40B4-BE49-F238E27FC236}">
                <a16:creationId xmlns:a16="http://schemas.microsoft.com/office/drawing/2014/main" id="{1136065A-AA6B-439F-B5AD-CEA9B5F55741}"/>
              </a:ext>
            </a:extLst>
          </p:cNvPr>
          <p:cNvSpPr>
            <a:spLocks noGrp="1"/>
          </p:cNvSpPr>
          <p:nvPr/>
        </p:nvSpPr>
        <p:spPr>
          <a:xfrm>
            <a:off x="4381500" y="27622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서식 선택</a:t>
            </a:r>
          </a:p>
        </p:txBody>
      </p:sp>
      <p:sp>
        <p:nvSpPr>
          <p:cNvPr id="9" name="text-24">
            <a:extLst>
              <a:ext uri="{FF2B5EF4-FFF2-40B4-BE49-F238E27FC236}">
                <a16:creationId xmlns:a16="http://schemas.microsoft.com/office/drawing/2014/main" id="{2228533F-C965-4E08-886B-8B081238CC01}"/>
              </a:ext>
            </a:extLst>
          </p:cNvPr>
          <p:cNvSpPr>
            <a:spLocks noGrp="1"/>
          </p:cNvSpPr>
          <p:nvPr/>
        </p:nvSpPr>
        <p:spPr>
          <a:xfrm>
            <a:off x="4381500" y="33147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글꼴, 크기, 줄간격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정렬, 들여쓰기</a:t>
            </a:r>
          </a:p>
        </p:txBody>
      </p:sp>
      <p:sp>
        <p:nvSpPr>
          <p:cNvPr id="10" name="text-25">
            <a:extLst>
              <a:ext uri="{FF2B5EF4-FFF2-40B4-BE49-F238E27FC236}">
                <a16:creationId xmlns:a16="http://schemas.microsoft.com/office/drawing/2014/main" id="{D3BA8C7E-5196-43C7-8A04-2FCDF78E133E}"/>
              </a:ext>
            </a:extLst>
          </p:cNvPr>
          <p:cNvSpPr>
            <a:spLocks noGrp="1"/>
          </p:cNvSpPr>
          <p:nvPr/>
        </p:nvSpPr>
        <p:spPr>
          <a:xfrm>
            <a:off x="8439150" y="22479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text-26">
            <a:extLst>
              <a:ext uri="{FF2B5EF4-FFF2-40B4-BE49-F238E27FC236}">
                <a16:creationId xmlns:a16="http://schemas.microsoft.com/office/drawing/2014/main" id="{3EC5DF51-6301-4865-93E5-264F04A8535F}"/>
              </a:ext>
            </a:extLst>
          </p:cNvPr>
          <p:cNvSpPr>
            <a:spLocks noGrp="1"/>
          </p:cNvSpPr>
          <p:nvPr/>
        </p:nvSpPr>
        <p:spPr>
          <a:xfrm>
            <a:off x="8439150" y="27622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파일 다운로드</a:t>
            </a:r>
          </a:p>
        </p:txBody>
      </p:sp>
      <p:sp>
        <p:nvSpPr>
          <p:cNvPr id="12" name="text-27">
            <a:extLst>
              <a:ext uri="{FF2B5EF4-FFF2-40B4-BE49-F238E27FC236}">
                <a16:creationId xmlns:a16="http://schemas.microsoft.com/office/drawing/2014/main" id="{0627A11F-C51F-4EB7-B1A3-D9013B3C414E}"/>
              </a:ext>
            </a:extLst>
          </p:cNvPr>
          <p:cNvSpPr>
            <a:spLocks noGrp="1"/>
          </p:cNvSpPr>
          <p:nvPr/>
        </p:nvSpPr>
        <p:spPr>
          <a:xfrm>
            <a:off x="8439150" y="33147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변환된 HWPX 파일</a:t>
            </a:r>
          </a:p>
        </p:txBody>
      </p:sp>
      <p:sp>
        <p:nvSpPr>
          <p:cNvPr id="13" name="shape-28">
            <a:extLst>
              <a:ext uri="{FF2B5EF4-FFF2-40B4-BE49-F238E27FC236}">
                <a16:creationId xmlns:a16="http://schemas.microsoft.com/office/drawing/2014/main" id="{CF067CC8-BCB6-4CFA-9F05-7268CEEBEAC8}"/>
              </a:ext>
            </a:extLst>
          </p:cNvPr>
          <p:cNvSpPr>
            <a:spLocks noGrp="1"/>
          </p:cNvSpPr>
          <p:nvPr/>
        </p:nvSpPr>
        <p:spPr>
          <a:xfrm>
            <a:off x="609600" y="4943475"/>
            <a:ext cx="1097280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14" name="text-29">
            <a:extLst>
              <a:ext uri="{FF2B5EF4-FFF2-40B4-BE49-F238E27FC236}">
                <a16:creationId xmlns:a16="http://schemas.microsoft.com/office/drawing/2014/main" id="{E363AF59-D6CF-4DA0-924C-29AC992E51CE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기존 원본 파일은 그대로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53495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30">
            <a:extLst>
              <a:ext uri="{FF2B5EF4-FFF2-40B4-BE49-F238E27FC236}">
                <a16:creationId xmlns:a16="http://schemas.microsoft.com/office/drawing/2014/main" id="{3935973E-7505-42F0-B46F-3842DB80E2A6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03  IPO 설계 · 입력</a:t>
            </a:r>
          </a:p>
        </p:txBody>
      </p:sp>
      <p:sp>
        <p:nvSpPr>
          <p:cNvPr id="2" name="text-31">
            <a:extLst>
              <a:ext uri="{FF2B5EF4-FFF2-40B4-BE49-F238E27FC236}">
                <a16:creationId xmlns:a16="http://schemas.microsoft.com/office/drawing/2014/main" id="{91F74F16-7AF3-48D2-8E27-C848F1E90744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사용자가 문서와 서식 정보를 입력합니다</a:t>
            </a:r>
          </a:p>
        </p:txBody>
      </p:sp>
      <p:sp>
        <p:nvSpPr>
          <p:cNvPr id="3" name="text-32">
            <a:extLst>
              <a:ext uri="{FF2B5EF4-FFF2-40B4-BE49-F238E27FC236}">
                <a16:creationId xmlns:a16="http://schemas.microsoft.com/office/drawing/2014/main" id="{9760AA32-0CDA-48BD-BBFD-C50C38C37F59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shape-33">
            <a:extLst>
              <a:ext uri="{FF2B5EF4-FFF2-40B4-BE49-F238E27FC236}">
                <a16:creationId xmlns:a16="http://schemas.microsoft.com/office/drawing/2014/main" id="{B4362B26-D4FB-4CCD-8CF6-20063C0FB40F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4000500" cy="3171825"/>
          </a:xfrm>
          <a:prstGeom prst="roundRect">
            <a:avLst>
              <a:gd name="adj" fmla="val 2402"/>
            </a:avLst>
          </a:prstGeom>
          <a:solidFill>
            <a:srgbClr val="EAF1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" name="text-34">
            <a:extLst>
              <a:ext uri="{FF2B5EF4-FFF2-40B4-BE49-F238E27FC236}">
                <a16:creationId xmlns:a16="http://schemas.microsoft.com/office/drawing/2014/main" id="{79863585-335A-49D5-8F2F-27A29D2A75D7}"/>
              </a:ext>
            </a:extLst>
          </p:cNvPr>
          <p:cNvSpPr>
            <a:spLocks noGrp="1"/>
          </p:cNvSpPr>
          <p:nvPr/>
        </p:nvSpPr>
        <p:spPr>
          <a:xfrm>
            <a:off x="609600" y="2733675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12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HWPX</a:t>
            </a:r>
          </a:p>
        </p:txBody>
      </p:sp>
      <p:sp>
        <p:nvSpPr>
          <p:cNvPr id="6" name="text-35">
            <a:extLst>
              <a:ext uri="{FF2B5EF4-FFF2-40B4-BE49-F238E27FC236}">
                <a16:creationId xmlns:a16="http://schemas.microsoft.com/office/drawing/2014/main" id="{F1D9AD6E-6D13-4BDE-8B9E-74503852D700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3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파일 업로드</a:t>
            </a:r>
          </a:p>
        </p:txBody>
      </p:sp>
      <p:sp>
        <p:nvSpPr>
          <p:cNvPr id="7" name="text-36">
            <a:extLst>
              <a:ext uri="{FF2B5EF4-FFF2-40B4-BE49-F238E27FC236}">
                <a16:creationId xmlns:a16="http://schemas.microsoft.com/office/drawing/2014/main" id="{A5C626DA-0D07-4A7E-9A2E-697DF916028E}"/>
              </a:ext>
            </a:extLst>
          </p:cNvPr>
          <p:cNvSpPr>
            <a:spLocks noGrp="1"/>
          </p:cNvSpPr>
          <p:nvPr/>
        </p:nvSpPr>
        <p:spPr>
          <a:xfrm>
            <a:off x="800100" y="421957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.hwpx 확장자만 허용</a:t>
            </a:r>
          </a:p>
        </p:txBody>
      </p:sp>
      <p:sp>
        <p:nvSpPr>
          <p:cNvPr id="8" name="text-37">
            <a:extLst>
              <a:ext uri="{FF2B5EF4-FFF2-40B4-BE49-F238E27FC236}">
                <a16:creationId xmlns:a16="http://schemas.microsoft.com/office/drawing/2014/main" id="{C5A384A6-4FF3-4968-8FC8-2749E2ED2848}"/>
              </a:ext>
            </a:extLst>
          </p:cNvPr>
          <p:cNvSpPr>
            <a:spLocks noGrp="1"/>
          </p:cNvSpPr>
          <p:nvPr/>
        </p:nvSpPr>
        <p:spPr>
          <a:xfrm>
            <a:off x="5334000" y="2076450"/>
            <a:ext cx="624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사용자가 선택할 서식</a:t>
            </a:r>
          </a:p>
        </p:txBody>
      </p:sp>
      <p:sp>
        <p:nvSpPr>
          <p:cNvPr id="9" name="shape-38">
            <a:extLst>
              <a:ext uri="{FF2B5EF4-FFF2-40B4-BE49-F238E27FC236}">
                <a16:creationId xmlns:a16="http://schemas.microsoft.com/office/drawing/2014/main" id="{3A90FED2-5CD9-44E8-BCCD-742C31933F88}"/>
              </a:ext>
            </a:extLst>
          </p:cNvPr>
          <p:cNvSpPr>
            <a:spLocks noGrp="1"/>
          </p:cNvSpPr>
          <p:nvPr/>
        </p:nvSpPr>
        <p:spPr>
          <a:xfrm>
            <a:off x="5334000" y="2781300"/>
            <a:ext cx="624840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10" name="text-39">
            <a:extLst>
              <a:ext uri="{FF2B5EF4-FFF2-40B4-BE49-F238E27FC236}">
                <a16:creationId xmlns:a16="http://schemas.microsoft.com/office/drawing/2014/main" id="{C817C6ED-FC5B-440A-89D1-A0F5BA8FF4F3}"/>
              </a:ext>
            </a:extLst>
          </p:cNvPr>
          <p:cNvSpPr>
            <a:spLocks noGrp="1"/>
          </p:cNvSpPr>
          <p:nvPr/>
        </p:nvSpPr>
        <p:spPr>
          <a:xfrm>
            <a:off x="5334000" y="29813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글꼴</a:t>
            </a:r>
          </a:p>
        </p:txBody>
      </p:sp>
      <p:sp>
        <p:nvSpPr>
          <p:cNvPr id="11" name="text-40">
            <a:extLst>
              <a:ext uri="{FF2B5EF4-FFF2-40B4-BE49-F238E27FC236}">
                <a16:creationId xmlns:a16="http://schemas.microsoft.com/office/drawing/2014/main" id="{ED586280-98A0-4B4C-A06A-4971076C1F7A}"/>
              </a:ext>
            </a:extLst>
          </p:cNvPr>
          <p:cNvSpPr>
            <a:spLocks noGrp="1"/>
          </p:cNvSpPr>
          <p:nvPr/>
        </p:nvSpPr>
        <p:spPr>
          <a:xfrm>
            <a:off x="7477125" y="2981325"/>
            <a:ext cx="41052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문서에 적용할 글꼴</a:t>
            </a:r>
          </a:p>
        </p:txBody>
      </p:sp>
      <p:sp>
        <p:nvSpPr>
          <p:cNvPr id="12" name="shape-41">
            <a:extLst>
              <a:ext uri="{FF2B5EF4-FFF2-40B4-BE49-F238E27FC236}">
                <a16:creationId xmlns:a16="http://schemas.microsoft.com/office/drawing/2014/main" id="{4F63501A-DC47-4A79-BC85-481CF08EA33B}"/>
              </a:ext>
            </a:extLst>
          </p:cNvPr>
          <p:cNvSpPr>
            <a:spLocks noGrp="1"/>
          </p:cNvSpPr>
          <p:nvPr/>
        </p:nvSpPr>
        <p:spPr>
          <a:xfrm>
            <a:off x="5334000" y="3695700"/>
            <a:ext cx="624840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13" name="text-42">
            <a:extLst>
              <a:ext uri="{FF2B5EF4-FFF2-40B4-BE49-F238E27FC236}">
                <a16:creationId xmlns:a16="http://schemas.microsoft.com/office/drawing/2014/main" id="{2EA0A638-446C-495D-8FF9-1D1C1F0DDCE2}"/>
              </a:ext>
            </a:extLst>
          </p:cNvPr>
          <p:cNvSpPr>
            <a:spLocks noGrp="1"/>
          </p:cNvSpPr>
          <p:nvPr/>
        </p:nvSpPr>
        <p:spPr>
          <a:xfrm>
            <a:off x="5334000" y="38957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글자 크기</a:t>
            </a:r>
          </a:p>
        </p:txBody>
      </p:sp>
      <p:sp>
        <p:nvSpPr>
          <p:cNvPr id="14" name="text-43">
            <a:extLst>
              <a:ext uri="{FF2B5EF4-FFF2-40B4-BE49-F238E27FC236}">
                <a16:creationId xmlns:a16="http://schemas.microsoft.com/office/drawing/2014/main" id="{031C6149-A713-4F8F-B6F5-352FA89D8A5A}"/>
              </a:ext>
            </a:extLst>
          </p:cNvPr>
          <p:cNvSpPr>
            <a:spLocks noGrp="1"/>
          </p:cNvSpPr>
          <p:nvPr/>
        </p:nvSpPr>
        <p:spPr>
          <a:xfrm>
            <a:off x="7477125" y="3895725"/>
            <a:ext cx="41052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본문 글자 크기</a:t>
            </a:r>
          </a:p>
        </p:txBody>
      </p:sp>
      <p:sp>
        <p:nvSpPr>
          <p:cNvPr id="15" name="shape-44">
            <a:extLst>
              <a:ext uri="{FF2B5EF4-FFF2-40B4-BE49-F238E27FC236}">
                <a16:creationId xmlns:a16="http://schemas.microsoft.com/office/drawing/2014/main" id="{B924D66B-F8D3-47D4-A98B-1D5DEBB77896}"/>
              </a:ext>
            </a:extLst>
          </p:cNvPr>
          <p:cNvSpPr>
            <a:spLocks noGrp="1"/>
          </p:cNvSpPr>
          <p:nvPr/>
        </p:nvSpPr>
        <p:spPr>
          <a:xfrm>
            <a:off x="5334000" y="4610100"/>
            <a:ext cx="624840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16" name="text-45">
            <a:extLst>
              <a:ext uri="{FF2B5EF4-FFF2-40B4-BE49-F238E27FC236}">
                <a16:creationId xmlns:a16="http://schemas.microsoft.com/office/drawing/2014/main" id="{3F3551B6-B313-421B-876F-904F0571054A}"/>
              </a:ext>
            </a:extLst>
          </p:cNvPr>
          <p:cNvSpPr>
            <a:spLocks noGrp="1"/>
          </p:cNvSpPr>
          <p:nvPr/>
        </p:nvSpPr>
        <p:spPr>
          <a:xfrm>
            <a:off x="5334000" y="48101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문단 서식</a:t>
            </a:r>
          </a:p>
        </p:txBody>
      </p:sp>
      <p:sp>
        <p:nvSpPr>
          <p:cNvPr id="17" name="text-46">
            <a:extLst>
              <a:ext uri="{FF2B5EF4-FFF2-40B4-BE49-F238E27FC236}">
                <a16:creationId xmlns:a16="http://schemas.microsoft.com/office/drawing/2014/main" id="{DD3B1F9D-AF34-41DB-A628-005B9419B10D}"/>
              </a:ext>
            </a:extLst>
          </p:cNvPr>
          <p:cNvSpPr>
            <a:spLocks noGrp="1"/>
          </p:cNvSpPr>
          <p:nvPr/>
        </p:nvSpPr>
        <p:spPr>
          <a:xfrm>
            <a:off x="7477125" y="4810125"/>
            <a:ext cx="41052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줄간격, 정렬, 들여쓰기</a:t>
            </a:r>
          </a:p>
        </p:txBody>
      </p:sp>
      <p:sp>
        <p:nvSpPr>
          <p:cNvPr id="18" name="text-47">
            <a:extLst>
              <a:ext uri="{FF2B5EF4-FFF2-40B4-BE49-F238E27FC236}">
                <a16:creationId xmlns:a16="http://schemas.microsoft.com/office/drawing/2014/main" id="{8BED52F3-0ED6-42DB-AF25-36B83F36DB0B}"/>
              </a:ext>
            </a:extLst>
          </p:cNvPr>
          <p:cNvSpPr>
            <a:spLocks noGrp="1"/>
          </p:cNvSpPr>
          <p:nvPr/>
        </p:nvSpPr>
        <p:spPr>
          <a:xfrm>
            <a:off x="5334000" y="5543550"/>
            <a:ext cx="624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별도 입력이 없으면 미리 설정한 기본값 사용</a:t>
            </a:r>
          </a:p>
        </p:txBody>
      </p:sp>
    </p:spTree>
    <p:extLst>
      <p:ext uri="{BB962C8B-B14F-4D97-AF65-F5344CB8AC3E}">
        <p14:creationId xmlns:p14="http://schemas.microsoft.com/office/powerpoint/2010/main" val="132004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-48">
            <a:extLst>
              <a:ext uri="{FF2B5EF4-FFF2-40B4-BE49-F238E27FC236}">
                <a16:creationId xmlns:a16="http://schemas.microsoft.com/office/drawing/2014/main" id="{1A247902-DB39-466E-B325-ACAB481B7B0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04  IPO 설계 · 처리와 출력</a:t>
            </a:r>
          </a:p>
        </p:txBody>
      </p:sp>
      <p:sp>
        <p:nvSpPr>
          <p:cNvPr id="2" name="text-49">
            <a:extLst>
              <a:ext uri="{FF2B5EF4-FFF2-40B4-BE49-F238E27FC236}">
                <a16:creationId xmlns:a16="http://schemas.microsoft.com/office/drawing/2014/main" id="{0987E346-1933-41D6-AB29-5895A94F4934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문서 구조를 분석해 새 파일을 만듭니다</a:t>
            </a:r>
          </a:p>
        </p:txBody>
      </p:sp>
      <p:sp>
        <p:nvSpPr>
          <p:cNvPr id="3" name="text-50">
            <a:extLst>
              <a:ext uri="{FF2B5EF4-FFF2-40B4-BE49-F238E27FC236}">
                <a16:creationId xmlns:a16="http://schemas.microsoft.com/office/drawing/2014/main" id="{BA0C59DB-F5F6-4CF4-9377-EA4B8E746BF0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-51">
            <a:extLst>
              <a:ext uri="{FF2B5EF4-FFF2-40B4-BE49-F238E27FC236}">
                <a16:creationId xmlns:a16="http://schemas.microsoft.com/office/drawing/2014/main" id="{3D527EF8-99F4-49C7-BFAE-34174EC21BBA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5" name="shape-52">
            <a:extLst>
              <a:ext uri="{FF2B5EF4-FFF2-40B4-BE49-F238E27FC236}">
                <a16:creationId xmlns:a16="http://schemas.microsoft.com/office/drawing/2014/main" id="{71EE52DD-1160-4633-BF16-4F1013272FDC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495300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6" name="text-53">
            <a:extLst>
              <a:ext uri="{FF2B5EF4-FFF2-40B4-BE49-F238E27FC236}">
                <a16:creationId xmlns:a16="http://schemas.microsoft.com/office/drawing/2014/main" id="{2ACF3773-A648-4321-A349-5C1B179DC132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text-54">
            <a:extLst>
              <a:ext uri="{FF2B5EF4-FFF2-40B4-BE49-F238E27FC236}">
                <a16:creationId xmlns:a16="http://schemas.microsoft.com/office/drawing/2014/main" id="{ECA852DD-109A-4EDF-B795-566C66F75A82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내부 구조 분석</a:t>
            </a:r>
          </a:p>
        </p:txBody>
      </p:sp>
      <p:sp>
        <p:nvSpPr>
          <p:cNvPr id="8" name="text-55">
            <a:extLst>
              <a:ext uri="{FF2B5EF4-FFF2-40B4-BE49-F238E27FC236}">
                <a16:creationId xmlns:a16="http://schemas.microsoft.com/office/drawing/2014/main" id="{8F58F889-EA78-4DF5-881B-BB27212AB3ED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2286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내용과 기존 서식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9" name="text-56">
            <a:extLst>
              <a:ext uri="{FF2B5EF4-FFF2-40B4-BE49-F238E27FC236}">
                <a16:creationId xmlns:a16="http://schemas.microsoft.com/office/drawing/2014/main" id="{B665CD7B-EC66-4EAE-B33E-7A13C76FEDD4}"/>
              </a:ext>
            </a:extLst>
          </p:cNvPr>
          <p:cNvSpPr>
            <a:spLocks noGrp="1"/>
          </p:cNvSpPr>
          <p:nvPr/>
        </p:nvSpPr>
        <p:spPr>
          <a:xfrm>
            <a:off x="3143250" y="2990850"/>
            <a:ext cx="2419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text-57">
            <a:extLst>
              <a:ext uri="{FF2B5EF4-FFF2-40B4-BE49-F238E27FC236}">
                <a16:creationId xmlns:a16="http://schemas.microsoft.com/office/drawing/2014/main" id="{FF8AC025-B359-4F06-B074-54B9207601FD}"/>
              </a:ext>
            </a:extLst>
          </p:cNvPr>
          <p:cNvSpPr>
            <a:spLocks noGrp="1"/>
          </p:cNvSpPr>
          <p:nvPr/>
        </p:nvSpPr>
        <p:spPr>
          <a:xfrm>
            <a:off x="3143250" y="3505200"/>
            <a:ext cx="2419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설정값 비교</a:t>
            </a:r>
          </a:p>
        </p:txBody>
      </p:sp>
      <p:sp>
        <p:nvSpPr>
          <p:cNvPr id="11" name="text-58">
            <a:extLst>
              <a:ext uri="{FF2B5EF4-FFF2-40B4-BE49-F238E27FC236}">
                <a16:creationId xmlns:a16="http://schemas.microsoft.com/office/drawing/2014/main" id="{9B6E0970-2CA3-4554-A348-4B736AA2860E}"/>
              </a:ext>
            </a:extLst>
          </p:cNvPr>
          <p:cNvSpPr>
            <a:spLocks noGrp="1"/>
          </p:cNvSpPr>
          <p:nvPr/>
        </p:nvSpPr>
        <p:spPr>
          <a:xfrm>
            <a:off x="3143250" y="4057650"/>
            <a:ext cx="24193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글자와 문단 서식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변경</a:t>
            </a:r>
          </a:p>
        </p:txBody>
      </p:sp>
      <p:sp>
        <p:nvSpPr>
          <p:cNvPr id="12" name="text-59">
            <a:extLst>
              <a:ext uri="{FF2B5EF4-FFF2-40B4-BE49-F238E27FC236}">
                <a16:creationId xmlns:a16="http://schemas.microsoft.com/office/drawing/2014/main" id="{CC19DDDE-C662-4F99-A120-07543B3CB5FF}"/>
              </a:ext>
            </a:extLst>
          </p:cNvPr>
          <p:cNvSpPr>
            <a:spLocks noGrp="1"/>
          </p:cNvSpPr>
          <p:nvPr/>
        </p:nvSpPr>
        <p:spPr>
          <a:xfrm>
            <a:off x="6438900" y="20383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13" name="shape-60">
            <a:extLst>
              <a:ext uri="{FF2B5EF4-FFF2-40B4-BE49-F238E27FC236}">
                <a16:creationId xmlns:a16="http://schemas.microsoft.com/office/drawing/2014/main" id="{B82677BD-F4C1-4844-AD4A-487C6DBB2D54}"/>
              </a:ext>
            </a:extLst>
          </p:cNvPr>
          <p:cNvSpPr>
            <a:spLocks noGrp="1"/>
          </p:cNvSpPr>
          <p:nvPr/>
        </p:nvSpPr>
        <p:spPr>
          <a:xfrm>
            <a:off x="6438900" y="2667000"/>
            <a:ext cx="514350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14" name="text-61">
            <a:extLst>
              <a:ext uri="{FF2B5EF4-FFF2-40B4-BE49-F238E27FC236}">
                <a16:creationId xmlns:a16="http://schemas.microsoft.com/office/drawing/2014/main" id="{976FAEC5-A8D8-44C8-98C9-47DF1B0F5320}"/>
              </a:ext>
            </a:extLst>
          </p:cNvPr>
          <p:cNvSpPr>
            <a:spLocks noGrp="1"/>
          </p:cNvSpPr>
          <p:nvPr/>
        </p:nvSpPr>
        <p:spPr>
          <a:xfrm>
            <a:off x="6438900" y="29908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text-62">
            <a:extLst>
              <a:ext uri="{FF2B5EF4-FFF2-40B4-BE49-F238E27FC236}">
                <a16:creationId xmlns:a16="http://schemas.microsoft.com/office/drawing/2014/main" id="{39E46024-6746-4027-842A-9D40B67D84C4}"/>
              </a:ext>
            </a:extLst>
          </p:cNvPr>
          <p:cNvSpPr>
            <a:spLocks noGrp="1"/>
          </p:cNvSpPr>
          <p:nvPr/>
        </p:nvSpPr>
        <p:spPr>
          <a:xfrm>
            <a:off x="6438900" y="35052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미리보기</a:t>
            </a:r>
          </a:p>
        </p:txBody>
      </p:sp>
      <p:sp>
        <p:nvSpPr>
          <p:cNvPr id="16" name="text-63">
            <a:extLst>
              <a:ext uri="{FF2B5EF4-FFF2-40B4-BE49-F238E27FC236}">
                <a16:creationId xmlns:a16="http://schemas.microsoft.com/office/drawing/2014/main" id="{9EA7E221-8901-4C4A-9F1E-02F943E49693}"/>
              </a:ext>
            </a:extLst>
          </p:cNvPr>
          <p:cNvSpPr>
            <a:spLocks noGrp="1"/>
          </p:cNvSpPr>
          <p:nvPr/>
        </p:nvSpPr>
        <p:spPr>
          <a:xfrm>
            <a:off x="6438900" y="4057650"/>
            <a:ext cx="2286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주요 서식 변화 확인</a:t>
            </a:r>
          </a:p>
        </p:txBody>
      </p:sp>
      <p:sp>
        <p:nvSpPr>
          <p:cNvPr id="17" name="text-64">
            <a:extLst>
              <a:ext uri="{FF2B5EF4-FFF2-40B4-BE49-F238E27FC236}">
                <a16:creationId xmlns:a16="http://schemas.microsoft.com/office/drawing/2014/main" id="{4F4F7C76-02A4-44DC-9220-2F3F2AD8B84B}"/>
              </a:ext>
            </a:extLst>
          </p:cNvPr>
          <p:cNvSpPr>
            <a:spLocks noGrp="1"/>
          </p:cNvSpPr>
          <p:nvPr/>
        </p:nvSpPr>
        <p:spPr>
          <a:xfrm>
            <a:off x="9067800" y="2990850"/>
            <a:ext cx="251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text-65">
            <a:extLst>
              <a:ext uri="{FF2B5EF4-FFF2-40B4-BE49-F238E27FC236}">
                <a16:creationId xmlns:a16="http://schemas.microsoft.com/office/drawing/2014/main" id="{7369EC5B-29F3-4133-91E9-7A8174AF90A0}"/>
              </a:ext>
            </a:extLst>
          </p:cNvPr>
          <p:cNvSpPr>
            <a:spLocks noGrp="1"/>
          </p:cNvSpPr>
          <p:nvPr/>
        </p:nvSpPr>
        <p:spPr>
          <a:xfrm>
            <a:off x="9067800" y="3505200"/>
            <a:ext cx="2514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파일 생성</a:t>
            </a:r>
          </a:p>
        </p:txBody>
      </p:sp>
      <p:sp>
        <p:nvSpPr>
          <p:cNvPr id="19" name="text-66">
            <a:extLst>
              <a:ext uri="{FF2B5EF4-FFF2-40B4-BE49-F238E27FC236}">
                <a16:creationId xmlns:a16="http://schemas.microsoft.com/office/drawing/2014/main" id="{4D9E8590-6CAE-4E51-B5A3-1442D1C88A09}"/>
              </a:ext>
            </a:extLst>
          </p:cNvPr>
          <p:cNvSpPr>
            <a:spLocks noGrp="1"/>
          </p:cNvSpPr>
          <p:nvPr/>
        </p:nvSpPr>
        <p:spPr>
          <a:xfrm>
            <a:off x="9067800" y="4057650"/>
            <a:ext cx="2514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새 HWPX 다운로드</a:t>
            </a:r>
          </a:p>
        </p:txBody>
      </p:sp>
    </p:spTree>
    <p:extLst>
      <p:ext uri="{BB962C8B-B14F-4D97-AF65-F5344CB8AC3E}">
        <p14:creationId xmlns:p14="http://schemas.microsoft.com/office/powerpoint/2010/main" val="197351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-67">
            <a:extLst>
              <a:ext uri="{FF2B5EF4-FFF2-40B4-BE49-F238E27FC236}">
                <a16:creationId xmlns:a16="http://schemas.microsoft.com/office/drawing/2014/main" id="{BCAF3C6D-C6BA-4D95-8033-27554E490E2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05  화면 구성</a:t>
            </a:r>
          </a:p>
        </p:txBody>
      </p:sp>
      <p:sp>
        <p:nvSpPr>
          <p:cNvPr id="2" name="text-68">
            <a:extLst>
              <a:ext uri="{FF2B5EF4-FFF2-40B4-BE49-F238E27FC236}">
                <a16:creationId xmlns:a16="http://schemas.microsoft.com/office/drawing/2014/main" id="{E7D5B386-5D06-42C5-BE71-CBAD05E1C667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핵심 화면의 구성과 기능</a:t>
            </a:r>
          </a:p>
        </p:txBody>
      </p:sp>
      <p:sp>
        <p:nvSpPr>
          <p:cNvPr id="3" name="text-69">
            <a:extLst>
              <a:ext uri="{FF2B5EF4-FFF2-40B4-BE49-F238E27FC236}">
                <a16:creationId xmlns:a16="http://schemas.microsoft.com/office/drawing/2014/main" id="{3B499E13-0FA8-43C4-A9B9-0CBD7995D556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-70">
            <a:extLst>
              <a:ext uri="{FF2B5EF4-FFF2-40B4-BE49-F238E27FC236}">
                <a16:creationId xmlns:a16="http://schemas.microsoft.com/office/drawing/2014/main" id="{CA38BC2C-57FD-4D35-AFCD-829D0335BFE8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3486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1  파일 업로드</a:t>
            </a:r>
          </a:p>
        </p:txBody>
      </p:sp>
      <p:sp>
        <p:nvSpPr>
          <p:cNvPr id="5" name="shape-71">
            <a:extLst>
              <a:ext uri="{FF2B5EF4-FFF2-40B4-BE49-F238E27FC236}">
                <a16:creationId xmlns:a16="http://schemas.microsoft.com/office/drawing/2014/main" id="{AD851F4A-29E7-42FF-B85B-00EE430282B4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3486150" cy="3390900"/>
          </a:xfrm>
          <a:prstGeom prst="rect">
            <a:avLst/>
          </a:prstGeom>
          <a:solidFill>
            <a:srgbClr val="F4F6F9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6" name="text-72">
            <a:extLst>
              <a:ext uri="{FF2B5EF4-FFF2-40B4-BE49-F238E27FC236}">
                <a16:creationId xmlns:a16="http://schemas.microsoft.com/office/drawing/2014/main" id="{9EDC1C79-BE46-439E-85A1-D57E538CB27B}"/>
              </a:ext>
            </a:extLst>
          </p:cNvPr>
          <p:cNvSpPr>
            <a:spLocks noGrp="1"/>
          </p:cNvSpPr>
          <p:nvPr/>
        </p:nvSpPr>
        <p:spPr>
          <a:xfrm>
            <a:off x="4352925" y="1771650"/>
            <a:ext cx="3486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2  서식 설정</a:t>
            </a:r>
          </a:p>
        </p:txBody>
      </p:sp>
      <p:sp>
        <p:nvSpPr>
          <p:cNvPr id="7" name="shape-73">
            <a:extLst>
              <a:ext uri="{FF2B5EF4-FFF2-40B4-BE49-F238E27FC236}">
                <a16:creationId xmlns:a16="http://schemas.microsoft.com/office/drawing/2014/main" id="{A6EC3D30-8EFD-4212-A659-E3C29B609375}"/>
              </a:ext>
            </a:extLst>
          </p:cNvPr>
          <p:cNvSpPr>
            <a:spLocks noGrp="1"/>
          </p:cNvSpPr>
          <p:nvPr/>
        </p:nvSpPr>
        <p:spPr>
          <a:xfrm>
            <a:off x="4352925" y="2343150"/>
            <a:ext cx="3486150" cy="3390900"/>
          </a:xfrm>
          <a:prstGeom prst="rect">
            <a:avLst/>
          </a:prstGeom>
          <a:solidFill>
            <a:srgbClr val="F4F6F9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8" name="text-74">
            <a:extLst>
              <a:ext uri="{FF2B5EF4-FFF2-40B4-BE49-F238E27FC236}">
                <a16:creationId xmlns:a16="http://schemas.microsoft.com/office/drawing/2014/main" id="{AC017F0E-CEF0-434E-9B29-7AAED1DE2260}"/>
              </a:ext>
            </a:extLst>
          </p:cNvPr>
          <p:cNvSpPr>
            <a:spLocks noGrp="1"/>
          </p:cNvSpPr>
          <p:nvPr/>
        </p:nvSpPr>
        <p:spPr>
          <a:xfrm>
            <a:off x="8096250" y="1771650"/>
            <a:ext cx="3486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3  변경 완료</a:t>
            </a:r>
          </a:p>
        </p:txBody>
      </p:sp>
      <p:sp>
        <p:nvSpPr>
          <p:cNvPr id="9" name="shape-75">
            <a:extLst>
              <a:ext uri="{FF2B5EF4-FFF2-40B4-BE49-F238E27FC236}">
                <a16:creationId xmlns:a16="http://schemas.microsoft.com/office/drawing/2014/main" id="{AA197760-6898-49B8-B722-938E41773494}"/>
              </a:ext>
            </a:extLst>
          </p:cNvPr>
          <p:cNvSpPr>
            <a:spLocks noGrp="1"/>
          </p:cNvSpPr>
          <p:nvPr/>
        </p:nvSpPr>
        <p:spPr>
          <a:xfrm>
            <a:off x="8096250" y="2343150"/>
            <a:ext cx="3486150" cy="3390900"/>
          </a:xfrm>
          <a:prstGeom prst="rect">
            <a:avLst/>
          </a:prstGeom>
          <a:solidFill>
            <a:srgbClr val="F4F6F9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0" name="shape-76">
            <a:extLst>
              <a:ext uri="{FF2B5EF4-FFF2-40B4-BE49-F238E27FC236}">
                <a16:creationId xmlns:a16="http://schemas.microsoft.com/office/drawing/2014/main" id="{DA4B2BAF-5D2A-43D7-9D0B-66F2A9FFBB5E}"/>
              </a:ext>
            </a:extLst>
          </p:cNvPr>
          <p:cNvSpPr>
            <a:spLocks noGrp="1"/>
          </p:cNvSpPr>
          <p:nvPr/>
        </p:nvSpPr>
        <p:spPr>
          <a:xfrm>
            <a:off x="838200" y="2657475"/>
            <a:ext cx="3028950" cy="1657350"/>
          </a:xfrm>
          <a:prstGeom prst="rect">
            <a:avLst/>
          </a:prstGeom>
          <a:solidFill>
            <a:srgbClr val="EAF1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1" name="text-77">
            <a:extLst>
              <a:ext uri="{FF2B5EF4-FFF2-40B4-BE49-F238E27FC236}">
                <a16:creationId xmlns:a16="http://schemas.microsoft.com/office/drawing/2014/main" id="{4B21D303-2899-4A17-94E4-5F8D49552576}"/>
              </a:ext>
            </a:extLst>
          </p:cNvPr>
          <p:cNvSpPr>
            <a:spLocks noGrp="1"/>
          </p:cNvSpPr>
          <p:nvPr/>
        </p:nvSpPr>
        <p:spPr>
          <a:xfrm>
            <a:off x="981075" y="3238500"/>
            <a:ext cx="2743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파일 업로드 창</a:t>
            </a:r>
          </a:p>
        </p:txBody>
      </p:sp>
      <p:sp>
        <p:nvSpPr>
          <p:cNvPr id="12" name="shape-78">
            <a:extLst>
              <a:ext uri="{FF2B5EF4-FFF2-40B4-BE49-F238E27FC236}">
                <a16:creationId xmlns:a16="http://schemas.microsoft.com/office/drawing/2014/main" id="{EAF03F5B-36C0-410C-BF92-224E11324DA8}"/>
              </a:ext>
            </a:extLst>
          </p:cNvPr>
          <p:cNvSpPr>
            <a:spLocks noGrp="1"/>
          </p:cNvSpPr>
          <p:nvPr/>
        </p:nvSpPr>
        <p:spPr>
          <a:xfrm>
            <a:off x="1647825" y="4972050"/>
            <a:ext cx="2219325" cy="409575"/>
          </a:xfrm>
          <a:prstGeom prst="rect">
            <a:avLst/>
          </a:prstGeom>
          <a:solidFill>
            <a:srgbClr val="2463EB"/>
          </a:solidFill>
          <a:ln w="0">
            <a:noFill/>
            <a:prstDash val="solid"/>
          </a:ln>
        </p:spPr>
      </p:sp>
      <p:sp>
        <p:nvSpPr>
          <p:cNvPr id="13" name="text-79">
            <a:extLst>
              <a:ext uri="{FF2B5EF4-FFF2-40B4-BE49-F238E27FC236}">
                <a16:creationId xmlns:a16="http://schemas.microsoft.com/office/drawing/2014/main" id="{B5120E4F-C59C-4BC5-9AF3-601AB0EF2F5F}"/>
              </a:ext>
            </a:extLst>
          </p:cNvPr>
          <p:cNvSpPr>
            <a:spLocks noGrp="1"/>
          </p:cNvSpPr>
          <p:nvPr/>
        </p:nvSpPr>
        <p:spPr>
          <a:xfrm>
            <a:off x="1685925" y="5038725"/>
            <a:ext cx="21431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서식 설정으로 이동</a:t>
            </a:r>
          </a:p>
        </p:txBody>
      </p:sp>
      <p:sp>
        <p:nvSpPr>
          <p:cNvPr id="14" name="shape-80">
            <a:extLst>
              <a:ext uri="{FF2B5EF4-FFF2-40B4-BE49-F238E27FC236}">
                <a16:creationId xmlns:a16="http://schemas.microsoft.com/office/drawing/2014/main" id="{FCD7E705-8BB6-43D0-BC2C-63F148AD7988}"/>
              </a:ext>
            </a:extLst>
          </p:cNvPr>
          <p:cNvSpPr>
            <a:spLocks noGrp="1"/>
          </p:cNvSpPr>
          <p:nvPr/>
        </p:nvSpPr>
        <p:spPr>
          <a:xfrm>
            <a:off x="4581525" y="2590800"/>
            <a:ext cx="30289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5" name="text-81">
            <a:extLst>
              <a:ext uri="{FF2B5EF4-FFF2-40B4-BE49-F238E27FC236}">
                <a16:creationId xmlns:a16="http://schemas.microsoft.com/office/drawing/2014/main" id="{006D106F-4BF6-411C-A9A7-7908E4A8E7C3}"/>
              </a:ext>
            </a:extLst>
          </p:cNvPr>
          <p:cNvSpPr>
            <a:spLocks noGrp="1"/>
          </p:cNvSpPr>
          <p:nvPr/>
        </p:nvSpPr>
        <p:spPr>
          <a:xfrm>
            <a:off x="4657725" y="2647950"/>
            <a:ext cx="2876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글꼴</a:t>
            </a:r>
          </a:p>
        </p:txBody>
      </p:sp>
      <p:sp>
        <p:nvSpPr>
          <p:cNvPr id="16" name="shape-82">
            <a:extLst>
              <a:ext uri="{FF2B5EF4-FFF2-40B4-BE49-F238E27FC236}">
                <a16:creationId xmlns:a16="http://schemas.microsoft.com/office/drawing/2014/main" id="{81DF016E-BAF8-451E-B70F-8BC69165CA57}"/>
              </a:ext>
            </a:extLst>
          </p:cNvPr>
          <p:cNvSpPr>
            <a:spLocks noGrp="1"/>
          </p:cNvSpPr>
          <p:nvPr/>
        </p:nvSpPr>
        <p:spPr>
          <a:xfrm>
            <a:off x="4581525" y="3105150"/>
            <a:ext cx="143827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7" name="text-83">
            <a:extLst>
              <a:ext uri="{FF2B5EF4-FFF2-40B4-BE49-F238E27FC236}">
                <a16:creationId xmlns:a16="http://schemas.microsoft.com/office/drawing/2014/main" id="{FF81F015-9E53-468F-B41B-C0E2DF04E1D9}"/>
              </a:ext>
            </a:extLst>
          </p:cNvPr>
          <p:cNvSpPr>
            <a:spLocks noGrp="1"/>
          </p:cNvSpPr>
          <p:nvPr/>
        </p:nvSpPr>
        <p:spPr>
          <a:xfrm>
            <a:off x="4657725" y="3162300"/>
            <a:ext cx="12858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글자 크기</a:t>
            </a:r>
          </a:p>
        </p:txBody>
      </p:sp>
      <p:sp>
        <p:nvSpPr>
          <p:cNvPr id="18" name="shape-84">
            <a:extLst>
              <a:ext uri="{FF2B5EF4-FFF2-40B4-BE49-F238E27FC236}">
                <a16:creationId xmlns:a16="http://schemas.microsoft.com/office/drawing/2014/main" id="{7BF53728-5188-4C05-8A0E-64C49E6673A5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141922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9" name="text-85">
            <a:extLst>
              <a:ext uri="{FF2B5EF4-FFF2-40B4-BE49-F238E27FC236}">
                <a16:creationId xmlns:a16="http://schemas.microsoft.com/office/drawing/2014/main" id="{F13CA4D4-2450-4793-8B84-E5B6006434B3}"/>
              </a:ext>
            </a:extLst>
          </p:cNvPr>
          <p:cNvSpPr>
            <a:spLocks noGrp="1"/>
          </p:cNvSpPr>
          <p:nvPr/>
        </p:nvSpPr>
        <p:spPr>
          <a:xfrm>
            <a:off x="6267450" y="3162300"/>
            <a:ext cx="12668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줄간격</a:t>
            </a:r>
          </a:p>
        </p:txBody>
      </p:sp>
      <p:sp>
        <p:nvSpPr>
          <p:cNvPr id="20" name="shape-86">
            <a:extLst>
              <a:ext uri="{FF2B5EF4-FFF2-40B4-BE49-F238E27FC236}">
                <a16:creationId xmlns:a16="http://schemas.microsoft.com/office/drawing/2014/main" id="{6166905A-877A-4CD3-80BE-D91B3CB4590F}"/>
              </a:ext>
            </a:extLst>
          </p:cNvPr>
          <p:cNvSpPr>
            <a:spLocks noGrp="1"/>
          </p:cNvSpPr>
          <p:nvPr/>
        </p:nvSpPr>
        <p:spPr>
          <a:xfrm>
            <a:off x="4581525" y="3619500"/>
            <a:ext cx="30289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21" name="text-87">
            <a:extLst>
              <a:ext uri="{FF2B5EF4-FFF2-40B4-BE49-F238E27FC236}">
                <a16:creationId xmlns:a16="http://schemas.microsoft.com/office/drawing/2014/main" id="{5363750E-B94E-4CCB-82A6-89229FB3B500}"/>
              </a:ext>
            </a:extLst>
          </p:cNvPr>
          <p:cNvSpPr>
            <a:spLocks noGrp="1"/>
          </p:cNvSpPr>
          <p:nvPr/>
        </p:nvSpPr>
        <p:spPr>
          <a:xfrm>
            <a:off x="4657725" y="3676650"/>
            <a:ext cx="2876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문단 정렬</a:t>
            </a:r>
          </a:p>
        </p:txBody>
      </p:sp>
      <p:sp>
        <p:nvSpPr>
          <p:cNvPr id="22" name="shape-88">
            <a:extLst>
              <a:ext uri="{FF2B5EF4-FFF2-40B4-BE49-F238E27FC236}">
                <a16:creationId xmlns:a16="http://schemas.microsoft.com/office/drawing/2014/main" id="{7000D627-A798-4750-9A37-D8DD80EAAF01}"/>
              </a:ext>
            </a:extLst>
          </p:cNvPr>
          <p:cNvSpPr>
            <a:spLocks noGrp="1"/>
          </p:cNvSpPr>
          <p:nvPr/>
        </p:nvSpPr>
        <p:spPr>
          <a:xfrm>
            <a:off x="4581525" y="4133850"/>
            <a:ext cx="30289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23" name="text-89">
            <a:extLst>
              <a:ext uri="{FF2B5EF4-FFF2-40B4-BE49-F238E27FC236}">
                <a16:creationId xmlns:a16="http://schemas.microsoft.com/office/drawing/2014/main" id="{90806045-1EA6-4E84-8239-2AA5D3EF95EA}"/>
              </a:ext>
            </a:extLst>
          </p:cNvPr>
          <p:cNvSpPr>
            <a:spLocks noGrp="1"/>
          </p:cNvSpPr>
          <p:nvPr/>
        </p:nvSpPr>
        <p:spPr>
          <a:xfrm>
            <a:off x="4657725" y="4191000"/>
            <a:ext cx="2876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들여쓰기 · 내어쓰기</a:t>
            </a:r>
          </a:p>
        </p:txBody>
      </p:sp>
      <p:sp>
        <p:nvSpPr>
          <p:cNvPr id="24" name="shape-90">
            <a:extLst>
              <a:ext uri="{FF2B5EF4-FFF2-40B4-BE49-F238E27FC236}">
                <a16:creationId xmlns:a16="http://schemas.microsoft.com/office/drawing/2014/main" id="{05F9D142-09E2-4373-9F55-294C28A33656}"/>
              </a:ext>
            </a:extLst>
          </p:cNvPr>
          <p:cNvSpPr>
            <a:spLocks noGrp="1"/>
          </p:cNvSpPr>
          <p:nvPr/>
        </p:nvSpPr>
        <p:spPr>
          <a:xfrm>
            <a:off x="4581525" y="4972050"/>
            <a:ext cx="9906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25" name="text-91">
            <a:extLst>
              <a:ext uri="{FF2B5EF4-FFF2-40B4-BE49-F238E27FC236}">
                <a16:creationId xmlns:a16="http://schemas.microsoft.com/office/drawing/2014/main" id="{70683C7B-9037-4BEE-B9CC-B17DDE849D0C}"/>
              </a:ext>
            </a:extLst>
          </p:cNvPr>
          <p:cNvSpPr>
            <a:spLocks noGrp="1"/>
          </p:cNvSpPr>
          <p:nvPr/>
        </p:nvSpPr>
        <p:spPr>
          <a:xfrm>
            <a:off x="4610100" y="5067300"/>
            <a:ext cx="933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서식 불러오기</a:t>
            </a:r>
          </a:p>
        </p:txBody>
      </p:sp>
      <p:sp>
        <p:nvSpPr>
          <p:cNvPr id="26" name="shape-92">
            <a:extLst>
              <a:ext uri="{FF2B5EF4-FFF2-40B4-BE49-F238E27FC236}">
                <a16:creationId xmlns:a16="http://schemas.microsoft.com/office/drawing/2014/main" id="{A089AD4D-9C3C-4B84-8444-CBFFA5C8D663}"/>
              </a:ext>
            </a:extLst>
          </p:cNvPr>
          <p:cNvSpPr>
            <a:spLocks noGrp="1"/>
          </p:cNvSpPr>
          <p:nvPr/>
        </p:nvSpPr>
        <p:spPr>
          <a:xfrm>
            <a:off x="5629275" y="4972050"/>
            <a:ext cx="10668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27" name="text-93">
            <a:extLst>
              <a:ext uri="{FF2B5EF4-FFF2-40B4-BE49-F238E27FC236}">
                <a16:creationId xmlns:a16="http://schemas.microsoft.com/office/drawing/2014/main" id="{9C8CEF4A-FEAA-4D21-870A-9530BF119556}"/>
              </a:ext>
            </a:extLst>
          </p:cNvPr>
          <p:cNvSpPr>
            <a:spLocks noGrp="1"/>
          </p:cNvSpPr>
          <p:nvPr/>
        </p:nvSpPr>
        <p:spPr>
          <a:xfrm>
            <a:off x="5657850" y="5067300"/>
            <a:ext cx="1009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현재 서식 저장</a:t>
            </a:r>
          </a:p>
        </p:txBody>
      </p:sp>
      <p:sp>
        <p:nvSpPr>
          <p:cNvPr id="28" name="shape-94">
            <a:extLst>
              <a:ext uri="{FF2B5EF4-FFF2-40B4-BE49-F238E27FC236}">
                <a16:creationId xmlns:a16="http://schemas.microsoft.com/office/drawing/2014/main" id="{C1CB5FBE-8780-4EBC-8876-A15F2ED73661}"/>
              </a:ext>
            </a:extLst>
          </p:cNvPr>
          <p:cNvSpPr>
            <a:spLocks noGrp="1"/>
          </p:cNvSpPr>
          <p:nvPr/>
        </p:nvSpPr>
        <p:spPr>
          <a:xfrm>
            <a:off x="6753225" y="4972050"/>
            <a:ext cx="857250" cy="409575"/>
          </a:xfrm>
          <a:prstGeom prst="rect">
            <a:avLst/>
          </a:prstGeom>
          <a:solidFill>
            <a:srgbClr val="2463EB"/>
          </a:solidFill>
          <a:ln w="0">
            <a:noFill/>
            <a:prstDash val="solid"/>
          </a:ln>
        </p:spPr>
      </p:sp>
      <p:sp>
        <p:nvSpPr>
          <p:cNvPr id="29" name="text-95">
            <a:extLst>
              <a:ext uri="{FF2B5EF4-FFF2-40B4-BE49-F238E27FC236}">
                <a16:creationId xmlns:a16="http://schemas.microsoft.com/office/drawing/2014/main" id="{A4147B9C-9A9A-4C07-B7BF-A6B1B3882922}"/>
              </a:ext>
            </a:extLst>
          </p:cNvPr>
          <p:cNvSpPr>
            <a:spLocks noGrp="1"/>
          </p:cNvSpPr>
          <p:nvPr/>
        </p:nvSpPr>
        <p:spPr>
          <a:xfrm>
            <a:off x="6781800" y="5067300"/>
            <a:ext cx="800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설정 완료</a:t>
            </a:r>
          </a:p>
        </p:txBody>
      </p:sp>
      <p:sp>
        <p:nvSpPr>
          <p:cNvPr id="30" name="shape-96">
            <a:extLst>
              <a:ext uri="{FF2B5EF4-FFF2-40B4-BE49-F238E27FC236}">
                <a16:creationId xmlns:a16="http://schemas.microsoft.com/office/drawing/2014/main" id="{620F54D6-6200-417E-8864-22DF252F9B8C}"/>
              </a:ext>
            </a:extLst>
          </p:cNvPr>
          <p:cNvSpPr>
            <a:spLocks noGrp="1"/>
          </p:cNvSpPr>
          <p:nvPr/>
        </p:nvSpPr>
        <p:spPr>
          <a:xfrm>
            <a:off x="8324850" y="2600325"/>
            <a:ext cx="1352550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31" name="text-97">
            <a:extLst>
              <a:ext uri="{FF2B5EF4-FFF2-40B4-BE49-F238E27FC236}">
                <a16:creationId xmlns:a16="http://schemas.microsoft.com/office/drawing/2014/main" id="{ECC51EE7-5EE4-4F68-8AD6-E91E26E196A1}"/>
              </a:ext>
            </a:extLst>
          </p:cNvPr>
          <p:cNvSpPr>
            <a:spLocks noGrp="1"/>
          </p:cNvSpPr>
          <p:nvPr/>
        </p:nvSpPr>
        <p:spPr>
          <a:xfrm>
            <a:off x="8391525" y="3381375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미리보기</a:t>
            </a:r>
          </a:p>
        </p:txBody>
      </p:sp>
      <p:sp>
        <p:nvSpPr>
          <p:cNvPr id="32" name="shape-98">
            <a:extLst>
              <a:ext uri="{FF2B5EF4-FFF2-40B4-BE49-F238E27FC236}">
                <a16:creationId xmlns:a16="http://schemas.microsoft.com/office/drawing/2014/main" id="{02CF2593-8F6B-4819-85AF-4F42B5226C20}"/>
              </a:ext>
            </a:extLst>
          </p:cNvPr>
          <p:cNvSpPr>
            <a:spLocks noGrp="1"/>
          </p:cNvSpPr>
          <p:nvPr/>
        </p:nvSpPr>
        <p:spPr>
          <a:xfrm>
            <a:off x="9848850" y="2600325"/>
            <a:ext cx="1504950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33" name="text-99">
            <a:extLst>
              <a:ext uri="{FF2B5EF4-FFF2-40B4-BE49-F238E27FC236}">
                <a16:creationId xmlns:a16="http://schemas.microsoft.com/office/drawing/2014/main" id="{FE6A45B3-0628-4AA2-A905-99F5F3838FF0}"/>
              </a:ext>
            </a:extLst>
          </p:cNvPr>
          <p:cNvSpPr>
            <a:spLocks noGrp="1"/>
          </p:cNvSpPr>
          <p:nvPr/>
        </p:nvSpPr>
        <p:spPr>
          <a:xfrm>
            <a:off x="9915525" y="3286125"/>
            <a:ext cx="1371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변경 내용</a:t>
            </a:r>
          </a:p>
          <a:p>
            <a:pPr algn="ctr">
              <a:defRPr sz="17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34" name="shape-100">
            <a:extLst>
              <a:ext uri="{FF2B5EF4-FFF2-40B4-BE49-F238E27FC236}">
                <a16:creationId xmlns:a16="http://schemas.microsoft.com/office/drawing/2014/main" id="{14BE2055-1373-42AF-94A3-FF7DD0CD690B}"/>
              </a:ext>
            </a:extLst>
          </p:cNvPr>
          <p:cNvSpPr>
            <a:spLocks noGrp="1"/>
          </p:cNvSpPr>
          <p:nvPr/>
        </p:nvSpPr>
        <p:spPr>
          <a:xfrm>
            <a:off x="8324850" y="4972050"/>
            <a:ext cx="1333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35" name="text-101">
            <a:extLst>
              <a:ext uri="{FF2B5EF4-FFF2-40B4-BE49-F238E27FC236}">
                <a16:creationId xmlns:a16="http://schemas.microsoft.com/office/drawing/2014/main" id="{A9380A4D-7B56-4D6A-98FF-81444648D2BE}"/>
              </a:ext>
            </a:extLst>
          </p:cNvPr>
          <p:cNvSpPr>
            <a:spLocks noGrp="1"/>
          </p:cNvSpPr>
          <p:nvPr/>
        </p:nvSpPr>
        <p:spPr>
          <a:xfrm>
            <a:off x="8362950" y="5038725"/>
            <a:ext cx="1257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서식 수정</a:t>
            </a:r>
          </a:p>
        </p:txBody>
      </p:sp>
      <p:sp>
        <p:nvSpPr>
          <p:cNvPr id="36" name="shape-102">
            <a:extLst>
              <a:ext uri="{FF2B5EF4-FFF2-40B4-BE49-F238E27FC236}">
                <a16:creationId xmlns:a16="http://schemas.microsoft.com/office/drawing/2014/main" id="{97C8C894-92D6-4ABE-B14A-34FE29FAD724}"/>
              </a:ext>
            </a:extLst>
          </p:cNvPr>
          <p:cNvSpPr>
            <a:spLocks noGrp="1"/>
          </p:cNvSpPr>
          <p:nvPr/>
        </p:nvSpPr>
        <p:spPr>
          <a:xfrm>
            <a:off x="9753600" y="4972050"/>
            <a:ext cx="1600200" cy="409575"/>
          </a:xfrm>
          <a:prstGeom prst="rect">
            <a:avLst/>
          </a:prstGeom>
          <a:solidFill>
            <a:srgbClr val="2463EB"/>
          </a:solidFill>
          <a:ln w="0">
            <a:noFill/>
            <a:prstDash val="solid"/>
          </a:ln>
        </p:spPr>
      </p:sp>
      <p:sp>
        <p:nvSpPr>
          <p:cNvPr id="37" name="text-103">
            <a:extLst>
              <a:ext uri="{FF2B5EF4-FFF2-40B4-BE49-F238E27FC236}">
                <a16:creationId xmlns:a16="http://schemas.microsoft.com/office/drawing/2014/main" id="{F8EB36E9-45F3-40B4-912B-06EF04551DFE}"/>
              </a:ext>
            </a:extLst>
          </p:cNvPr>
          <p:cNvSpPr>
            <a:spLocks noGrp="1"/>
          </p:cNvSpPr>
          <p:nvPr/>
        </p:nvSpPr>
        <p:spPr>
          <a:xfrm>
            <a:off x="9791700" y="5038725"/>
            <a:ext cx="1524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HWPX 다운로드</a:t>
            </a:r>
          </a:p>
        </p:txBody>
      </p:sp>
    </p:spTree>
    <p:extLst>
      <p:ext uri="{BB962C8B-B14F-4D97-AF65-F5344CB8AC3E}">
        <p14:creationId xmlns:p14="http://schemas.microsoft.com/office/powerpoint/2010/main" val="77758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104">
            <a:extLst>
              <a:ext uri="{FF2B5EF4-FFF2-40B4-BE49-F238E27FC236}">
                <a16:creationId xmlns:a16="http://schemas.microsoft.com/office/drawing/2014/main" id="{AEE304E4-084B-4D2B-84ED-573690A413B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06  개발 계획 · 1~4차시</a:t>
            </a:r>
          </a:p>
        </p:txBody>
      </p:sp>
      <p:sp>
        <p:nvSpPr>
          <p:cNvPr id="2" name="text-105">
            <a:extLst>
              <a:ext uri="{FF2B5EF4-FFF2-40B4-BE49-F238E27FC236}">
                <a16:creationId xmlns:a16="http://schemas.microsoft.com/office/drawing/2014/main" id="{D590324A-3483-4C2E-B227-CC870FCD8E67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먼저 문서를 읽고 기본 서식을 바꿉니다</a:t>
            </a:r>
          </a:p>
        </p:txBody>
      </p:sp>
      <p:sp>
        <p:nvSpPr>
          <p:cNvPr id="3" name="text-106">
            <a:extLst>
              <a:ext uri="{FF2B5EF4-FFF2-40B4-BE49-F238E27FC236}">
                <a16:creationId xmlns:a16="http://schemas.microsoft.com/office/drawing/2014/main" id="{87DE2078-2052-43D0-944B-2C09A45F30CF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text-107">
            <a:extLst>
              <a:ext uri="{FF2B5EF4-FFF2-40B4-BE49-F238E27FC236}">
                <a16:creationId xmlns:a16="http://schemas.microsoft.com/office/drawing/2014/main" id="{FB5E62E6-DEF0-4E4B-9236-BC66459000E2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-108">
            <a:extLst>
              <a:ext uri="{FF2B5EF4-FFF2-40B4-BE49-F238E27FC236}">
                <a16:creationId xmlns:a16="http://schemas.microsoft.com/office/drawing/2014/main" id="{37C1DE23-2A90-4620-A0B7-D846E9845330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준비</a:t>
            </a:r>
          </a:p>
        </p:txBody>
      </p:sp>
      <p:sp>
        <p:nvSpPr>
          <p:cNvPr id="6" name="text-109">
            <a:extLst>
              <a:ext uri="{FF2B5EF4-FFF2-40B4-BE49-F238E27FC236}">
                <a16:creationId xmlns:a16="http://schemas.microsoft.com/office/drawing/2014/main" id="{C283C697-F622-4C43-99C2-9781A6E2754A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2533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GitHub 저장소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만들기</a:t>
            </a:r>
          </a:p>
        </p:txBody>
      </p:sp>
      <p:sp>
        <p:nvSpPr>
          <p:cNvPr id="7" name="text-110">
            <a:extLst>
              <a:ext uri="{FF2B5EF4-FFF2-40B4-BE49-F238E27FC236}">
                <a16:creationId xmlns:a16="http://schemas.microsoft.com/office/drawing/2014/main" id="{A591A3FA-F09B-47D9-9768-9C7400BD58DF}"/>
              </a:ext>
            </a:extLst>
          </p:cNvPr>
          <p:cNvSpPr>
            <a:spLocks noGrp="1"/>
          </p:cNvSpPr>
          <p:nvPr/>
        </p:nvSpPr>
        <p:spPr>
          <a:xfrm>
            <a:off x="3409950" y="25717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text-111">
            <a:extLst>
              <a:ext uri="{FF2B5EF4-FFF2-40B4-BE49-F238E27FC236}">
                <a16:creationId xmlns:a16="http://schemas.microsoft.com/office/drawing/2014/main" id="{9FFBC861-85DD-40C4-9DB1-CCDD9B036D67}"/>
              </a:ext>
            </a:extLst>
          </p:cNvPr>
          <p:cNvSpPr>
            <a:spLocks noGrp="1"/>
          </p:cNvSpPr>
          <p:nvPr/>
        </p:nvSpPr>
        <p:spPr>
          <a:xfrm>
            <a:off x="3409950" y="30861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업로드</a:t>
            </a:r>
          </a:p>
        </p:txBody>
      </p:sp>
      <p:sp>
        <p:nvSpPr>
          <p:cNvPr id="9" name="text-112">
            <a:extLst>
              <a:ext uri="{FF2B5EF4-FFF2-40B4-BE49-F238E27FC236}">
                <a16:creationId xmlns:a16="http://schemas.microsoft.com/office/drawing/2014/main" id="{4E2B9F93-E470-4AD5-9B07-5A4CAFCAD4A1}"/>
              </a:ext>
            </a:extLst>
          </p:cNvPr>
          <p:cNvSpPr>
            <a:spLocks noGrp="1"/>
          </p:cNvSpPr>
          <p:nvPr/>
        </p:nvSpPr>
        <p:spPr>
          <a:xfrm>
            <a:off x="3409950" y="3638550"/>
            <a:ext cx="2533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파일 업로드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기본 화면 구성</a:t>
            </a:r>
          </a:p>
        </p:txBody>
      </p:sp>
      <p:sp>
        <p:nvSpPr>
          <p:cNvPr id="10" name="text-113">
            <a:extLst>
              <a:ext uri="{FF2B5EF4-FFF2-40B4-BE49-F238E27FC236}">
                <a16:creationId xmlns:a16="http://schemas.microsoft.com/office/drawing/2014/main" id="{54B638AE-CDED-4F56-B44B-18BD4F988E49}"/>
              </a:ext>
            </a:extLst>
          </p:cNvPr>
          <p:cNvSpPr>
            <a:spLocks noGrp="1"/>
          </p:cNvSpPr>
          <p:nvPr/>
        </p:nvSpPr>
        <p:spPr>
          <a:xfrm>
            <a:off x="6210300" y="25717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text-114">
            <a:extLst>
              <a:ext uri="{FF2B5EF4-FFF2-40B4-BE49-F238E27FC236}">
                <a16:creationId xmlns:a16="http://schemas.microsoft.com/office/drawing/2014/main" id="{E6A7D5C3-82B0-4FB6-8309-90A89BCA1A13}"/>
              </a:ext>
            </a:extLst>
          </p:cNvPr>
          <p:cNvSpPr>
            <a:spLocks noGrp="1"/>
          </p:cNvSpPr>
          <p:nvPr/>
        </p:nvSpPr>
        <p:spPr>
          <a:xfrm>
            <a:off x="6210300" y="30861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정보 추출</a:t>
            </a:r>
          </a:p>
        </p:txBody>
      </p:sp>
      <p:sp>
        <p:nvSpPr>
          <p:cNvPr id="12" name="text-115">
            <a:extLst>
              <a:ext uri="{FF2B5EF4-FFF2-40B4-BE49-F238E27FC236}">
                <a16:creationId xmlns:a16="http://schemas.microsoft.com/office/drawing/2014/main" id="{C0007DDE-2E7B-47D9-94B8-DF8F6684410E}"/>
              </a:ext>
            </a:extLst>
          </p:cNvPr>
          <p:cNvSpPr>
            <a:spLocks noGrp="1"/>
          </p:cNvSpPr>
          <p:nvPr/>
        </p:nvSpPr>
        <p:spPr>
          <a:xfrm>
            <a:off x="6210300" y="3638550"/>
            <a:ext cx="2533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내부 XML 읽기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내용과 서식 추출</a:t>
            </a:r>
          </a:p>
        </p:txBody>
      </p:sp>
      <p:sp>
        <p:nvSpPr>
          <p:cNvPr id="13" name="text-116">
            <a:extLst>
              <a:ext uri="{FF2B5EF4-FFF2-40B4-BE49-F238E27FC236}">
                <a16:creationId xmlns:a16="http://schemas.microsoft.com/office/drawing/2014/main" id="{228F86A8-C9D0-4297-9774-889D30101A3F}"/>
              </a:ext>
            </a:extLst>
          </p:cNvPr>
          <p:cNvSpPr>
            <a:spLocks noGrp="1"/>
          </p:cNvSpPr>
          <p:nvPr/>
        </p:nvSpPr>
        <p:spPr>
          <a:xfrm>
            <a:off x="9010650" y="25717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text-117">
            <a:extLst>
              <a:ext uri="{FF2B5EF4-FFF2-40B4-BE49-F238E27FC236}">
                <a16:creationId xmlns:a16="http://schemas.microsoft.com/office/drawing/2014/main" id="{2E45C866-DF36-4D8F-8D78-AAA924F753C2}"/>
              </a:ext>
            </a:extLst>
          </p:cNvPr>
          <p:cNvSpPr>
            <a:spLocks noGrp="1"/>
          </p:cNvSpPr>
          <p:nvPr/>
        </p:nvSpPr>
        <p:spPr>
          <a:xfrm>
            <a:off x="9010650" y="30861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기본 서식</a:t>
            </a:r>
          </a:p>
        </p:txBody>
      </p:sp>
      <p:sp>
        <p:nvSpPr>
          <p:cNvPr id="15" name="text-118">
            <a:extLst>
              <a:ext uri="{FF2B5EF4-FFF2-40B4-BE49-F238E27FC236}">
                <a16:creationId xmlns:a16="http://schemas.microsoft.com/office/drawing/2014/main" id="{28B68D8B-A3BF-4F53-82C6-BFE4977B98F5}"/>
              </a:ext>
            </a:extLst>
          </p:cNvPr>
          <p:cNvSpPr>
            <a:spLocks noGrp="1"/>
          </p:cNvSpPr>
          <p:nvPr/>
        </p:nvSpPr>
        <p:spPr>
          <a:xfrm>
            <a:off x="9010650" y="3638550"/>
            <a:ext cx="2533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글꼴과 글자 크기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변경 기능</a:t>
            </a:r>
          </a:p>
        </p:txBody>
      </p:sp>
    </p:spTree>
    <p:extLst>
      <p:ext uri="{BB962C8B-B14F-4D97-AF65-F5344CB8AC3E}">
        <p14:creationId xmlns:p14="http://schemas.microsoft.com/office/powerpoint/2010/main" val="152413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119">
            <a:extLst>
              <a:ext uri="{FF2B5EF4-FFF2-40B4-BE49-F238E27FC236}">
                <a16:creationId xmlns:a16="http://schemas.microsoft.com/office/drawing/2014/main" id="{4DF5B287-4D0F-44FC-81A5-19E4271C94E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07  개발 계획 · 5~8차시</a:t>
            </a:r>
          </a:p>
        </p:txBody>
      </p:sp>
      <p:sp>
        <p:nvSpPr>
          <p:cNvPr id="2" name="text-120">
            <a:extLst>
              <a:ext uri="{FF2B5EF4-FFF2-40B4-BE49-F238E27FC236}">
                <a16:creationId xmlns:a16="http://schemas.microsoft.com/office/drawing/2014/main" id="{21E77304-8E28-4BA2-BBCF-46867D8F1134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변환을 완성하고 서식을 다시 사용합니다</a:t>
            </a:r>
          </a:p>
        </p:txBody>
      </p:sp>
      <p:sp>
        <p:nvSpPr>
          <p:cNvPr id="3" name="text-121">
            <a:extLst>
              <a:ext uri="{FF2B5EF4-FFF2-40B4-BE49-F238E27FC236}">
                <a16:creationId xmlns:a16="http://schemas.microsoft.com/office/drawing/2014/main" id="{FEF7A045-72C7-47AA-B4DD-43FBEB017B65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text-122">
            <a:extLst>
              <a:ext uri="{FF2B5EF4-FFF2-40B4-BE49-F238E27FC236}">
                <a16:creationId xmlns:a16="http://schemas.microsoft.com/office/drawing/2014/main" id="{8F6556D3-8D2E-4AC4-8E21-E41CF460E4F4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text-123">
            <a:extLst>
              <a:ext uri="{FF2B5EF4-FFF2-40B4-BE49-F238E27FC236}">
                <a16:creationId xmlns:a16="http://schemas.microsoft.com/office/drawing/2014/main" id="{1D008012-6E68-4AAA-A440-4F4460BACB3B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추가 서식</a:t>
            </a:r>
          </a:p>
        </p:txBody>
      </p:sp>
      <p:sp>
        <p:nvSpPr>
          <p:cNvPr id="6" name="text-124">
            <a:extLst>
              <a:ext uri="{FF2B5EF4-FFF2-40B4-BE49-F238E27FC236}">
                <a16:creationId xmlns:a16="http://schemas.microsoft.com/office/drawing/2014/main" id="{1DD8CD39-75C6-4A0A-A8AD-92FCAB44F7E8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2533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줄간격, 정렬, 들여쓰기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변경 기능</a:t>
            </a:r>
          </a:p>
        </p:txBody>
      </p:sp>
      <p:sp>
        <p:nvSpPr>
          <p:cNvPr id="7" name="text-125">
            <a:extLst>
              <a:ext uri="{FF2B5EF4-FFF2-40B4-BE49-F238E27FC236}">
                <a16:creationId xmlns:a16="http://schemas.microsoft.com/office/drawing/2014/main" id="{A57052AD-7A0F-49FF-8799-A61274BA3A11}"/>
              </a:ext>
            </a:extLst>
          </p:cNvPr>
          <p:cNvSpPr>
            <a:spLocks noGrp="1"/>
          </p:cNvSpPr>
          <p:nvPr/>
        </p:nvSpPr>
        <p:spPr>
          <a:xfrm>
            <a:off x="3409950" y="25717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text-126">
            <a:extLst>
              <a:ext uri="{FF2B5EF4-FFF2-40B4-BE49-F238E27FC236}">
                <a16:creationId xmlns:a16="http://schemas.microsoft.com/office/drawing/2014/main" id="{6794B08C-2779-43C4-963C-08FB2B5BABE8}"/>
              </a:ext>
            </a:extLst>
          </p:cNvPr>
          <p:cNvSpPr>
            <a:spLocks noGrp="1"/>
          </p:cNvSpPr>
          <p:nvPr/>
        </p:nvSpPr>
        <p:spPr>
          <a:xfrm>
            <a:off x="3409950" y="30861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미리보기·출력</a:t>
            </a:r>
          </a:p>
        </p:txBody>
      </p:sp>
      <p:sp>
        <p:nvSpPr>
          <p:cNvPr id="9" name="text-127">
            <a:extLst>
              <a:ext uri="{FF2B5EF4-FFF2-40B4-BE49-F238E27FC236}">
                <a16:creationId xmlns:a16="http://schemas.microsoft.com/office/drawing/2014/main" id="{60D485B5-4827-49DB-B0DC-73DC1E5A2631}"/>
              </a:ext>
            </a:extLst>
          </p:cNvPr>
          <p:cNvSpPr>
            <a:spLocks noGrp="1"/>
          </p:cNvSpPr>
          <p:nvPr/>
        </p:nvSpPr>
        <p:spPr>
          <a:xfrm>
            <a:off x="3409950" y="3638550"/>
            <a:ext cx="2533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미리보기 구현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HWPX 생성·다운로드</a:t>
            </a:r>
          </a:p>
        </p:txBody>
      </p:sp>
      <p:sp>
        <p:nvSpPr>
          <p:cNvPr id="10" name="text-128">
            <a:extLst>
              <a:ext uri="{FF2B5EF4-FFF2-40B4-BE49-F238E27FC236}">
                <a16:creationId xmlns:a16="http://schemas.microsoft.com/office/drawing/2014/main" id="{20460515-C311-4DC2-96B0-72A7F07D61BF}"/>
              </a:ext>
            </a:extLst>
          </p:cNvPr>
          <p:cNvSpPr>
            <a:spLocks noGrp="1"/>
          </p:cNvSpPr>
          <p:nvPr/>
        </p:nvSpPr>
        <p:spPr>
          <a:xfrm>
            <a:off x="6210300" y="25717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1" name="text-129">
            <a:extLst>
              <a:ext uri="{FF2B5EF4-FFF2-40B4-BE49-F238E27FC236}">
                <a16:creationId xmlns:a16="http://schemas.microsoft.com/office/drawing/2014/main" id="{FB9BA386-FD58-4628-A9FD-F710177258BB}"/>
              </a:ext>
            </a:extLst>
          </p:cNvPr>
          <p:cNvSpPr>
            <a:spLocks noGrp="1"/>
          </p:cNvSpPr>
          <p:nvPr/>
        </p:nvSpPr>
        <p:spPr>
          <a:xfrm>
            <a:off x="6210300" y="30861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서식 저장</a:t>
            </a:r>
          </a:p>
        </p:txBody>
      </p:sp>
      <p:sp>
        <p:nvSpPr>
          <p:cNvPr id="12" name="text-130">
            <a:extLst>
              <a:ext uri="{FF2B5EF4-FFF2-40B4-BE49-F238E27FC236}">
                <a16:creationId xmlns:a16="http://schemas.microsoft.com/office/drawing/2014/main" id="{64E1C65C-F769-4007-86BD-F6B32C2B85BB}"/>
              </a:ext>
            </a:extLst>
          </p:cNvPr>
          <p:cNvSpPr>
            <a:spLocks noGrp="1"/>
          </p:cNvSpPr>
          <p:nvPr/>
        </p:nvSpPr>
        <p:spPr>
          <a:xfrm>
            <a:off x="6210300" y="3638550"/>
            <a:ext cx="2533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Supabase 연결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사용자 설정 저장</a:t>
            </a:r>
          </a:p>
        </p:txBody>
      </p:sp>
      <p:sp>
        <p:nvSpPr>
          <p:cNvPr id="13" name="text-131">
            <a:extLst>
              <a:ext uri="{FF2B5EF4-FFF2-40B4-BE49-F238E27FC236}">
                <a16:creationId xmlns:a16="http://schemas.microsoft.com/office/drawing/2014/main" id="{D042E344-5715-47C0-A8A8-9AE95F36FBCC}"/>
              </a:ext>
            </a:extLst>
          </p:cNvPr>
          <p:cNvSpPr>
            <a:spLocks noGrp="1"/>
          </p:cNvSpPr>
          <p:nvPr/>
        </p:nvSpPr>
        <p:spPr>
          <a:xfrm>
            <a:off x="9010650" y="25717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14" name="text-132">
            <a:extLst>
              <a:ext uri="{FF2B5EF4-FFF2-40B4-BE49-F238E27FC236}">
                <a16:creationId xmlns:a16="http://schemas.microsoft.com/office/drawing/2014/main" id="{6CCDD91F-31A8-4CE0-895F-FC1D2E4DA033}"/>
              </a:ext>
            </a:extLst>
          </p:cNvPr>
          <p:cNvSpPr>
            <a:spLocks noGrp="1"/>
          </p:cNvSpPr>
          <p:nvPr/>
        </p:nvSpPr>
        <p:spPr>
          <a:xfrm>
            <a:off x="9010650" y="308610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서식 재사용</a:t>
            </a:r>
          </a:p>
        </p:txBody>
      </p:sp>
      <p:sp>
        <p:nvSpPr>
          <p:cNvPr id="15" name="text-133">
            <a:extLst>
              <a:ext uri="{FF2B5EF4-FFF2-40B4-BE49-F238E27FC236}">
                <a16:creationId xmlns:a16="http://schemas.microsoft.com/office/drawing/2014/main" id="{F1A8491F-6388-49F8-9D7C-892CA9E4EC53}"/>
              </a:ext>
            </a:extLst>
          </p:cNvPr>
          <p:cNvSpPr>
            <a:spLocks noGrp="1"/>
          </p:cNvSpPr>
          <p:nvPr/>
        </p:nvSpPr>
        <p:spPr>
          <a:xfrm>
            <a:off x="9010650" y="3638550"/>
            <a:ext cx="2533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저장 서식 불러오기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문서에 다시 적용</a:t>
            </a:r>
          </a:p>
        </p:txBody>
      </p:sp>
    </p:spTree>
    <p:extLst>
      <p:ext uri="{BB962C8B-B14F-4D97-AF65-F5344CB8AC3E}">
        <p14:creationId xmlns:p14="http://schemas.microsoft.com/office/powerpoint/2010/main" val="184620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134">
            <a:extLst>
              <a:ext uri="{FF2B5EF4-FFF2-40B4-BE49-F238E27FC236}">
                <a16:creationId xmlns:a16="http://schemas.microsoft.com/office/drawing/2014/main" id="{FB1F8900-1B68-45F8-AB9D-A4A87C921C3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08  예상 어려움 · HWPX 구조</a:t>
            </a:r>
          </a:p>
        </p:txBody>
      </p:sp>
      <p:sp>
        <p:nvSpPr>
          <p:cNvPr id="2" name="text-135">
            <a:extLst>
              <a:ext uri="{FF2B5EF4-FFF2-40B4-BE49-F238E27FC236}">
                <a16:creationId xmlns:a16="http://schemas.microsoft.com/office/drawing/2014/main" id="{95B11080-1DE0-44ED-8C60-6C77BAB09BB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HWPX에서 수정할 위치를 찾기 어려울 수 있습니다</a:t>
            </a:r>
          </a:p>
        </p:txBody>
      </p:sp>
      <p:sp>
        <p:nvSpPr>
          <p:cNvPr id="3" name="text-136">
            <a:extLst>
              <a:ext uri="{FF2B5EF4-FFF2-40B4-BE49-F238E27FC236}">
                <a16:creationId xmlns:a16="http://schemas.microsoft.com/office/drawing/2014/main" id="{E1F64FA6-2835-456E-88CF-E2716B68BDDC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text-137">
            <a:extLst>
              <a:ext uri="{FF2B5EF4-FFF2-40B4-BE49-F238E27FC236}">
                <a16:creationId xmlns:a16="http://schemas.microsoft.com/office/drawing/2014/main" id="{32CA62B3-F50E-49D7-B7CA-CB408C5A1449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예상되는 어려움</a:t>
            </a:r>
          </a:p>
        </p:txBody>
      </p:sp>
      <p:sp>
        <p:nvSpPr>
          <p:cNvPr id="5" name="text-138">
            <a:extLst>
              <a:ext uri="{FF2B5EF4-FFF2-40B4-BE49-F238E27FC236}">
                <a16:creationId xmlns:a16="http://schemas.microsoft.com/office/drawing/2014/main" id="{0F40B2CC-162E-4563-8686-684B450B7CD0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6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서식 정보가 서로 다른 위치에 저장됩니다.</a:t>
            </a:r>
          </a:p>
        </p:txBody>
      </p:sp>
      <p:sp>
        <p:nvSpPr>
          <p:cNvPr id="6" name="text-139">
            <a:extLst>
              <a:ext uri="{FF2B5EF4-FFF2-40B4-BE49-F238E27FC236}">
                <a16:creationId xmlns:a16="http://schemas.microsoft.com/office/drawing/2014/main" id="{3D3CD091-9A27-48A7-93C8-E58BF7BCD813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109728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글꼴, 글자 크기, 줄간격, 정렬 등의 정보가 흩어져 있어</a:t>
            </a:r>
          </a:p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처음에는 어느 부분을 수정해야 하는지 파악하기 어렵습니다.</a:t>
            </a:r>
          </a:p>
        </p:txBody>
      </p:sp>
      <p:sp>
        <p:nvSpPr>
          <p:cNvPr id="7" name="shape-140">
            <a:extLst>
              <a:ext uri="{FF2B5EF4-FFF2-40B4-BE49-F238E27FC236}">
                <a16:creationId xmlns:a16="http://schemas.microsoft.com/office/drawing/2014/main" id="{5ECB051C-5D1D-4867-864E-B4AEA3AFD5C2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1097280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8" name="text-141">
            <a:extLst>
              <a:ext uri="{FF2B5EF4-FFF2-40B4-BE49-F238E27FC236}">
                <a16:creationId xmlns:a16="http://schemas.microsoft.com/office/drawing/2014/main" id="{669CE565-3D35-4677-A6F3-80632EBC3F6E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대비 방법</a:t>
            </a:r>
          </a:p>
        </p:txBody>
      </p:sp>
      <p:sp>
        <p:nvSpPr>
          <p:cNvPr id="9" name="text-142">
            <a:extLst>
              <a:ext uri="{FF2B5EF4-FFF2-40B4-BE49-F238E27FC236}">
                <a16:creationId xmlns:a16="http://schemas.microsoft.com/office/drawing/2014/main" id="{17555E8D-E83C-46AA-A5A4-C0D0A8B14DCA}"/>
              </a:ext>
            </a:extLst>
          </p:cNvPr>
          <p:cNvSpPr>
            <a:spLocks noGrp="1"/>
          </p:cNvSpPr>
          <p:nvPr/>
        </p:nvSpPr>
        <p:spPr>
          <a:xfrm>
            <a:off x="2381250" y="47625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-143">
            <a:extLst>
              <a:ext uri="{FF2B5EF4-FFF2-40B4-BE49-F238E27FC236}">
                <a16:creationId xmlns:a16="http://schemas.microsoft.com/office/drawing/2014/main" id="{48DBC02A-F557-4A4B-B895-22410D211486}"/>
              </a:ext>
            </a:extLst>
          </p:cNvPr>
          <p:cNvSpPr>
            <a:spLocks noGrp="1"/>
          </p:cNvSpPr>
          <p:nvPr/>
        </p:nvSpPr>
        <p:spPr>
          <a:xfrm>
            <a:off x="2905125" y="4810125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글꼴과 글자 크기</a:t>
            </a:r>
          </a:p>
          <a:p>
            <a:pPr algn="l">
              <a:def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11" name="text-144">
            <a:extLst>
              <a:ext uri="{FF2B5EF4-FFF2-40B4-BE49-F238E27FC236}">
                <a16:creationId xmlns:a16="http://schemas.microsoft.com/office/drawing/2014/main" id="{0B64D3B0-9D49-44D4-926B-5C36C74C912E}"/>
              </a:ext>
            </a:extLst>
          </p:cNvPr>
          <p:cNvSpPr>
            <a:spLocks noGrp="1"/>
          </p:cNvSpPr>
          <p:nvPr/>
        </p:nvSpPr>
        <p:spPr>
          <a:xfrm>
            <a:off x="5410200" y="47625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-145">
            <a:extLst>
              <a:ext uri="{FF2B5EF4-FFF2-40B4-BE49-F238E27FC236}">
                <a16:creationId xmlns:a16="http://schemas.microsoft.com/office/drawing/2014/main" id="{D60E17B1-4D23-4447-BA3B-42750C85854E}"/>
              </a:ext>
            </a:extLst>
          </p:cNvPr>
          <p:cNvSpPr>
            <a:spLocks noGrp="1"/>
          </p:cNvSpPr>
          <p:nvPr/>
        </p:nvSpPr>
        <p:spPr>
          <a:xfrm>
            <a:off x="5934075" y="4810125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정상 작동</a:t>
            </a:r>
          </a:p>
          <a:p>
            <a:pPr algn="l">
              <a:def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3" name="text-146">
            <a:extLst>
              <a:ext uri="{FF2B5EF4-FFF2-40B4-BE49-F238E27FC236}">
                <a16:creationId xmlns:a16="http://schemas.microsoft.com/office/drawing/2014/main" id="{9484B432-5010-4C42-B3F6-6BF534EB16B8}"/>
              </a:ext>
            </a:extLst>
          </p:cNvPr>
          <p:cNvSpPr>
            <a:spLocks noGrp="1"/>
          </p:cNvSpPr>
          <p:nvPr/>
        </p:nvSpPr>
        <p:spPr>
          <a:xfrm>
            <a:off x="8439150" y="47625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02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text-147">
            <a:extLst>
              <a:ext uri="{FF2B5EF4-FFF2-40B4-BE49-F238E27FC236}">
                <a16:creationId xmlns:a16="http://schemas.microsoft.com/office/drawing/2014/main" id="{1AC7848B-DD93-4883-9966-D75C03554645}"/>
              </a:ext>
            </a:extLst>
          </p:cNvPr>
          <p:cNvSpPr>
            <a:spLocks noGrp="1"/>
          </p:cNvSpPr>
          <p:nvPr/>
        </p:nvSpPr>
        <p:spPr>
          <a:xfrm>
            <a:off x="8963025" y="4810125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줄간격, 정렬,</a:t>
            </a:r>
          </a:p>
          <a:p>
            <a:pPr algn="l">
              <a:def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들여쓰기로 확대</a:t>
            </a:r>
          </a:p>
        </p:txBody>
      </p:sp>
    </p:spTree>
    <p:extLst>
      <p:ext uri="{BB962C8B-B14F-4D97-AF65-F5344CB8AC3E}">
        <p14:creationId xmlns:p14="http://schemas.microsoft.com/office/powerpoint/2010/main" val="55393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148">
            <a:extLst>
              <a:ext uri="{FF2B5EF4-FFF2-40B4-BE49-F238E27FC236}">
                <a16:creationId xmlns:a16="http://schemas.microsoft.com/office/drawing/2014/main" id="{8131E201-A389-4375-8D8E-B33FE0E9817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09  예상 어려움 · 화면 차이</a:t>
            </a:r>
          </a:p>
        </p:txBody>
      </p:sp>
      <p:sp>
        <p:nvSpPr>
          <p:cNvPr id="2" name="text-149">
            <a:extLst>
              <a:ext uri="{FF2B5EF4-FFF2-40B4-BE49-F238E27FC236}">
                <a16:creationId xmlns:a16="http://schemas.microsoft.com/office/drawing/2014/main" id="{0205EEC0-003D-42C2-8630-560FE6795A18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미리보기와 실제 문서 모습이 다를 수 있습니다</a:t>
            </a:r>
          </a:p>
        </p:txBody>
      </p:sp>
      <p:sp>
        <p:nvSpPr>
          <p:cNvPr id="3" name="text-150">
            <a:extLst>
              <a:ext uri="{FF2B5EF4-FFF2-40B4-BE49-F238E27FC236}">
                <a16:creationId xmlns:a16="http://schemas.microsoft.com/office/drawing/2014/main" id="{850BEFAA-BD1A-4DBC-BD91-0762D1108E8C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text-151">
            <a:extLst>
              <a:ext uri="{FF2B5EF4-FFF2-40B4-BE49-F238E27FC236}">
                <a16:creationId xmlns:a16="http://schemas.microsoft.com/office/drawing/2014/main" id="{056A24F4-F31C-4A02-9786-EEBD2A479D71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예상되는 어려움</a:t>
            </a:r>
          </a:p>
        </p:txBody>
      </p:sp>
      <p:sp>
        <p:nvSpPr>
          <p:cNvPr id="5" name="text-152">
            <a:extLst>
              <a:ext uri="{FF2B5EF4-FFF2-40B4-BE49-F238E27FC236}">
                <a16:creationId xmlns:a16="http://schemas.microsoft.com/office/drawing/2014/main" id="{A3DA0C22-C67E-4721-948A-7117A887EA30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4762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7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웹과 한글 프로그램의</a:t>
            </a:r>
          </a:p>
          <a:p>
            <a:pPr algn="l">
              <a:defRPr sz="27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화면 배치가 달라질 가능성</a:t>
            </a:r>
          </a:p>
        </p:txBody>
      </p:sp>
      <p:sp>
        <p:nvSpPr>
          <p:cNvPr id="6" name="text-153">
            <a:extLst>
              <a:ext uri="{FF2B5EF4-FFF2-40B4-BE49-F238E27FC236}">
                <a16:creationId xmlns:a16="http://schemas.microsoft.com/office/drawing/2014/main" id="{DB03FF9D-AF46-41CE-A378-23C140435F82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특히 줄바꿈과 페이지 구성에서</a:t>
            </a:r>
          </a:p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차이가 생길 수 있습니다.</a:t>
            </a:r>
          </a:p>
        </p:txBody>
      </p:sp>
      <p:sp>
        <p:nvSpPr>
          <p:cNvPr id="7" name="shape-154">
            <a:extLst>
              <a:ext uri="{FF2B5EF4-FFF2-40B4-BE49-F238E27FC236}">
                <a16:creationId xmlns:a16="http://schemas.microsoft.com/office/drawing/2014/main" id="{84F1C13C-2F18-4ED2-9536-F34849018A74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5391150" cy="3105150"/>
          </a:xfrm>
          <a:prstGeom prst="roundRect">
            <a:avLst>
              <a:gd name="adj" fmla="val 2454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text-155">
            <a:extLst>
              <a:ext uri="{FF2B5EF4-FFF2-40B4-BE49-F238E27FC236}">
                <a16:creationId xmlns:a16="http://schemas.microsoft.com/office/drawing/2014/main" id="{E0610652-20EE-4D40-8BFA-D17B73C321FC}"/>
              </a:ext>
            </a:extLst>
          </p:cNvPr>
          <p:cNvSpPr>
            <a:spLocks noGrp="1"/>
          </p:cNvSpPr>
          <p:nvPr/>
        </p:nvSpPr>
        <p:spPr>
          <a:xfrm>
            <a:off x="6572250" y="2371725"/>
            <a:ext cx="462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대비 방법</a:t>
            </a:r>
          </a:p>
        </p:txBody>
      </p:sp>
      <p:sp>
        <p:nvSpPr>
          <p:cNvPr id="9" name="text-156">
            <a:extLst>
              <a:ext uri="{FF2B5EF4-FFF2-40B4-BE49-F238E27FC236}">
                <a16:creationId xmlns:a16="http://schemas.microsoft.com/office/drawing/2014/main" id="{9A48F39D-1E46-4C9E-B126-DEB0F8605CE7}"/>
              </a:ext>
            </a:extLst>
          </p:cNvPr>
          <p:cNvSpPr>
            <a:spLocks noGrp="1"/>
          </p:cNvSpPr>
          <p:nvPr/>
        </p:nvSpPr>
        <p:spPr>
          <a:xfrm>
            <a:off x="6572250" y="303847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미리보기</a:t>
            </a:r>
          </a:p>
        </p:txBody>
      </p:sp>
      <p:sp>
        <p:nvSpPr>
          <p:cNvPr id="10" name="text-157">
            <a:extLst>
              <a:ext uri="{FF2B5EF4-FFF2-40B4-BE49-F238E27FC236}">
                <a16:creationId xmlns:a16="http://schemas.microsoft.com/office/drawing/2014/main" id="{5194071B-13E4-4F1C-A8C2-AD78BC2DD40D}"/>
              </a:ext>
            </a:extLst>
          </p:cNvPr>
          <p:cNvSpPr>
            <a:spLocks noGrp="1"/>
          </p:cNvSpPr>
          <p:nvPr/>
        </p:nvSpPr>
        <p:spPr>
          <a:xfrm>
            <a:off x="8305800" y="3038475"/>
            <a:ext cx="2895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글꼴, 크기, 줄간격, 정렬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주요 서식 변화 확인</a:t>
            </a:r>
          </a:p>
        </p:txBody>
      </p:sp>
      <p:sp>
        <p:nvSpPr>
          <p:cNvPr id="11" name="shape-158">
            <a:extLst>
              <a:ext uri="{FF2B5EF4-FFF2-40B4-BE49-F238E27FC236}">
                <a16:creationId xmlns:a16="http://schemas.microsoft.com/office/drawing/2014/main" id="{5281D28C-8E97-4847-BB51-90273CC1EA42}"/>
              </a:ext>
            </a:extLst>
          </p:cNvPr>
          <p:cNvSpPr>
            <a:spLocks noGrp="1"/>
          </p:cNvSpPr>
          <p:nvPr/>
        </p:nvSpPr>
        <p:spPr>
          <a:xfrm>
            <a:off x="6572250" y="3990975"/>
            <a:ext cx="462915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12" name="text-159">
            <a:extLst>
              <a:ext uri="{FF2B5EF4-FFF2-40B4-BE49-F238E27FC236}">
                <a16:creationId xmlns:a16="http://schemas.microsoft.com/office/drawing/2014/main" id="{3C9170A0-5D07-4D98-8254-E517311D0373}"/>
              </a:ext>
            </a:extLst>
          </p:cNvPr>
          <p:cNvSpPr>
            <a:spLocks noGrp="1"/>
          </p:cNvSpPr>
          <p:nvPr/>
        </p:nvSpPr>
        <p:spPr>
          <a:xfrm>
            <a:off x="6572250" y="42862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최종 확인</a:t>
            </a:r>
          </a:p>
        </p:txBody>
      </p:sp>
      <p:sp>
        <p:nvSpPr>
          <p:cNvPr id="13" name="text-160">
            <a:extLst>
              <a:ext uri="{FF2B5EF4-FFF2-40B4-BE49-F238E27FC236}">
                <a16:creationId xmlns:a16="http://schemas.microsoft.com/office/drawing/2014/main" id="{C37C3C57-0634-4D8B-A275-EFC31E63EBBA}"/>
              </a:ext>
            </a:extLst>
          </p:cNvPr>
          <p:cNvSpPr>
            <a:spLocks noGrp="1"/>
          </p:cNvSpPr>
          <p:nvPr/>
        </p:nvSpPr>
        <p:spPr>
          <a:xfrm>
            <a:off x="8305800" y="4286250"/>
            <a:ext cx="2895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변환한 HWPX를 열어</a:t>
            </a:r>
          </a:p>
          <a:p>
            <a:pPr algn="l">
              <a:def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한글 프로그램에서 확인</a:t>
            </a:r>
          </a:p>
        </p:txBody>
      </p:sp>
    </p:spTree>
    <p:extLst>
      <p:ext uri="{BB962C8B-B14F-4D97-AF65-F5344CB8AC3E}">
        <p14:creationId xmlns:p14="http://schemas.microsoft.com/office/powerpoint/2010/main" val="56414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61">
            <a:extLst>
              <a:ext uri="{FF2B5EF4-FFF2-40B4-BE49-F238E27FC236}">
                <a16:creationId xmlns:a16="http://schemas.microsoft.com/office/drawing/2014/main" id="{7C36C17E-E694-4818-AC63-FED2918C7BE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10  성장 목표</a:t>
            </a:r>
          </a:p>
        </p:txBody>
      </p:sp>
      <p:sp>
        <p:nvSpPr>
          <p:cNvPr id="2" name="text-162">
            <a:extLst>
              <a:ext uri="{FF2B5EF4-FFF2-40B4-BE49-F238E27FC236}">
                <a16:creationId xmlns:a16="http://schemas.microsoft.com/office/drawing/2014/main" id="{E636163A-77C8-46A2-87D1-E3A4A7B0213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기술 이해와 점검 습관을 함께 기릅니다</a:t>
            </a:r>
          </a:p>
        </p:txBody>
      </p:sp>
      <p:sp>
        <p:nvSpPr>
          <p:cNvPr id="3" name="text-163">
            <a:extLst>
              <a:ext uri="{FF2B5EF4-FFF2-40B4-BE49-F238E27FC236}">
                <a16:creationId xmlns:a16="http://schemas.microsoft.com/office/drawing/2014/main" id="{558B689A-6A6B-445C-BAD1-A7F24FE985E7}"/>
              </a:ext>
            </a:extLst>
          </p:cNvPr>
          <p:cNvSpPr>
            <a:spLocks noGrp="1"/>
          </p:cNvSpPr>
          <p:nvPr/>
        </p:nvSpPr>
        <p:spPr>
          <a:xfrm>
            <a:off x="10858500" y="636270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text-164">
            <a:extLst>
              <a:ext uri="{FF2B5EF4-FFF2-40B4-BE49-F238E27FC236}">
                <a16:creationId xmlns:a16="http://schemas.microsoft.com/office/drawing/2014/main" id="{B619039F-13E7-452B-9DA5-D6A420633735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85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지식과 기술</a:t>
            </a:r>
          </a:p>
        </p:txBody>
      </p:sp>
      <p:sp>
        <p:nvSpPr>
          <p:cNvPr id="5" name="shape-165">
            <a:extLst>
              <a:ext uri="{FF2B5EF4-FFF2-40B4-BE49-F238E27FC236}">
                <a16:creationId xmlns:a16="http://schemas.microsoft.com/office/drawing/2014/main" id="{38829F0A-39D2-45FA-AF58-791D1D736548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485775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6" name="text-166">
            <a:extLst>
              <a:ext uri="{FF2B5EF4-FFF2-40B4-BE49-F238E27FC236}">
                <a16:creationId xmlns:a16="http://schemas.microsoft.com/office/drawing/2014/main" id="{51BE2627-1371-45B6-BEE4-E4A066E5D947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웹 내부의 처리 과정을 이해</a:t>
            </a:r>
          </a:p>
        </p:txBody>
      </p:sp>
      <p:sp>
        <p:nvSpPr>
          <p:cNvPr id="7" name="text-167">
            <a:extLst>
              <a:ext uri="{FF2B5EF4-FFF2-40B4-BE49-F238E27FC236}">
                <a16:creationId xmlns:a16="http://schemas.microsoft.com/office/drawing/2014/main" id="{ED41DB77-A1B9-4E6F-B4D4-3A5BD2B8EB92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485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입력부터 결과 출력까지의 흐름</a:t>
            </a:r>
          </a:p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프론트엔드와 DB의 상호작용</a:t>
            </a:r>
          </a:p>
        </p:txBody>
      </p:sp>
      <p:sp>
        <p:nvSpPr>
          <p:cNvPr id="8" name="text-168">
            <a:extLst>
              <a:ext uri="{FF2B5EF4-FFF2-40B4-BE49-F238E27FC236}">
                <a16:creationId xmlns:a16="http://schemas.microsoft.com/office/drawing/2014/main" id="{6218E2B1-3325-405F-B9F1-596A0F6C393D}"/>
              </a:ext>
            </a:extLst>
          </p:cNvPr>
          <p:cNvSpPr>
            <a:spLocks noGrp="1"/>
          </p:cNvSpPr>
          <p:nvPr/>
        </p:nvSpPr>
        <p:spPr>
          <a:xfrm>
            <a:off x="6438900" y="209550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463EB"/>
                </a:solidFill>
                <a:latin typeface="Malgun Gothic"/>
                <a:ea typeface="Malgun Gothic"/>
                <a:cs typeface="Malgun Gothic"/>
              </a:rPr>
              <a:t>태도와 습관</a:t>
            </a:r>
          </a:p>
        </p:txBody>
      </p:sp>
      <p:sp>
        <p:nvSpPr>
          <p:cNvPr id="9" name="shape-169">
            <a:extLst>
              <a:ext uri="{FF2B5EF4-FFF2-40B4-BE49-F238E27FC236}">
                <a16:creationId xmlns:a16="http://schemas.microsoft.com/office/drawing/2014/main" id="{1A8DF4F4-DED8-49B7-BCD2-719E59D456A9}"/>
              </a:ext>
            </a:extLst>
          </p:cNvPr>
          <p:cNvSpPr>
            <a:spLocks noGrp="1"/>
          </p:cNvSpPr>
          <p:nvPr/>
        </p:nvSpPr>
        <p:spPr>
          <a:xfrm>
            <a:off x="6438900" y="2724150"/>
            <a:ext cx="5143500" cy="13335"/>
          </a:xfrm>
          <a:prstGeom prst="rect">
            <a:avLst/>
          </a:prstGeom>
          <a:solidFill>
            <a:srgbClr val="D6DAE1"/>
          </a:solidFill>
          <a:ln w="0">
            <a:noFill/>
            <a:prstDash val="solid"/>
          </a:ln>
        </p:spPr>
      </p:sp>
      <p:sp>
        <p:nvSpPr>
          <p:cNvPr id="10" name="text-170">
            <a:extLst>
              <a:ext uri="{FF2B5EF4-FFF2-40B4-BE49-F238E27FC236}">
                <a16:creationId xmlns:a16="http://schemas.microsoft.com/office/drawing/2014/main" id="{54470119-7A01-440F-9DA6-8E59EEEF52B6}"/>
              </a:ext>
            </a:extLst>
          </p:cNvPr>
          <p:cNvSpPr>
            <a:spLocks noGrp="1"/>
          </p:cNvSpPr>
          <p:nvPr/>
        </p:nvSpPr>
        <p:spPr>
          <a:xfrm>
            <a:off x="6438900" y="306705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예외 상황을 미리 점검</a:t>
            </a:r>
          </a:p>
        </p:txBody>
      </p:sp>
      <p:sp>
        <p:nvSpPr>
          <p:cNvPr id="11" name="text-171">
            <a:extLst>
              <a:ext uri="{FF2B5EF4-FFF2-40B4-BE49-F238E27FC236}">
                <a16:creationId xmlns:a16="http://schemas.microsoft.com/office/drawing/2014/main" id="{53304122-80E0-4CC8-A738-DA75288F2E3F}"/>
              </a:ext>
            </a:extLst>
          </p:cNvPr>
          <p:cNvSpPr>
            <a:spLocks noGrp="1"/>
          </p:cNvSpPr>
          <p:nvPr/>
        </p:nvSpPr>
        <p:spPr>
          <a:xfrm>
            <a:off x="6438900" y="3771900"/>
            <a:ext cx="5143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입력값과 파일 형식의 문제를 예상</a:t>
            </a:r>
          </a:p>
          <a:p>
            <a:pPr algn="l">
              <a:def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274"/>
                </a:solidFill>
                <a:latin typeface="Malgun Gothic"/>
                <a:ea typeface="Malgun Gothic"/>
                <a:cs typeface="Malgun Gothic"/>
              </a:rPr>
              <a:t>문제가 생기기 전에 확인하고 처리</a:t>
            </a:r>
          </a:p>
        </p:txBody>
      </p:sp>
    </p:spTree>
    <p:extLst>
      <p:ext uri="{BB962C8B-B14F-4D97-AF65-F5344CB8AC3E}">
        <p14:creationId xmlns:p14="http://schemas.microsoft.com/office/powerpoint/2010/main" val="208836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172">
            <a:extLst>
              <a:ext uri="{FF2B5EF4-FFF2-40B4-BE49-F238E27FC236}">
                <a16:creationId xmlns:a16="http://schemas.microsoft.com/office/drawing/2014/main" id="{62CC4568-BFAB-402D-8BB8-07BD48295B07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2" name="text-173">
            <a:extLst>
              <a:ext uri="{FF2B5EF4-FFF2-40B4-BE49-F238E27FC236}">
                <a16:creationId xmlns:a16="http://schemas.microsoft.com/office/drawing/2014/main" id="{D8CD06FC-EBF6-425E-86BB-00130CCF59E6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10972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0">
                <a:solidFill>
                  <a:srgbClr val="DDE8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DDE8FF"/>
                </a:solidFill>
                <a:latin typeface="Malgun Gothic"/>
                <a:ea typeface="Malgun Gothic"/>
                <a:cs typeface="Malgun Gothic"/>
              </a:rPr>
              <a:t>hwpx 문서 서식 변환 서비스</a:t>
            </a:r>
          </a:p>
        </p:txBody>
      </p:sp>
      <p:sp>
        <p:nvSpPr>
          <p:cNvPr id="3" name="shape-174">
            <a:extLst>
              <a:ext uri="{FF2B5EF4-FFF2-40B4-BE49-F238E27FC236}">
                <a16:creationId xmlns:a16="http://schemas.microsoft.com/office/drawing/2014/main" id="{215EF966-6ECA-4F26-8E5F-4B61E6AF88D6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10972800" cy="13335"/>
          </a:xfrm>
          <a:prstGeom prst="rect">
            <a:avLst/>
          </a:prstGeom>
          <a:solidFill>
            <a:srgbClr val="8FB2FF"/>
          </a:solidFill>
          <a:ln w="0">
            <a:noFill/>
            <a:prstDash val="solid"/>
          </a:ln>
        </p:spPr>
      </p:sp>
      <p:sp>
        <p:nvSpPr>
          <p:cNvPr id="4" name="text-175">
            <a:extLst>
              <a:ext uri="{FF2B5EF4-FFF2-40B4-BE49-F238E27FC236}">
                <a16:creationId xmlns:a16="http://schemas.microsoft.com/office/drawing/2014/main" id="{5080CDD4-FA22-49FB-8ACC-FDAD210C81CF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AI  ChatGPT</a:t>
            </a:r>
          </a:p>
        </p:txBody>
      </p:sp>
    </p:spTree>
    <p:extLst>
      <p:ext uri="{BB962C8B-B14F-4D97-AF65-F5344CB8AC3E}">
        <p14:creationId xmlns:p14="http://schemas.microsoft.com/office/powerpoint/2010/main" val="7793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DocSecurity>0</DocSecurity>
  <PresentationFormat>와이드스크린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2</cp:revision>
  <dcterms:created xsi:type="dcterms:W3CDTF">2026-09-05T08:32:40Z</dcterms:created>
  <dcterms:modified xsi:type="dcterms:W3CDTF">2026-09-05T10:44:03Z</dcterms:modified>
</cp:coreProperties>
</file>